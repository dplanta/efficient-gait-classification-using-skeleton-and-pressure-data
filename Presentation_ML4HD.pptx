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020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802BF-FA25-44D3-8AEF-F3B86CDA583C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BE888-C68D-44AB-86E2-BAB70E4C2ED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615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Intro?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9669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Gait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important</a:t>
            </a:r>
            <a:r>
              <a:rPr lang="it-IT" dirty="0"/>
              <a:t> tool in the </a:t>
            </a:r>
            <a:r>
              <a:rPr lang="it-IT" dirty="0" err="1"/>
              <a:t>medical</a:t>
            </a:r>
            <a:r>
              <a:rPr lang="it-IT" dirty="0"/>
              <a:t> field,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identifying</a:t>
            </a:r>
            <a:r>
              <a:rPr lang="it-IT" dirty="0"/>
              <a:t> 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gait</a:t>
            </a:r>
            <a:r>
              <a:rPr lang="it-IT" dirty="0"/>
              <a:t> patterns can </a:t>
            </a:r>
            <a:r>
              <a:rPr lang="it-IT" dirty="0" err="1"/>
              <a:t>aid</a:t>
            </a:r>
            <a:r>
              <a:rPr lang="it-IT" dirty="0"/>
              <a:t> in the </a:t>
            </a:r>
            <a:r>
              <a:rPr lang="it-IT" dirty="0" err="1"/>
              <a:t>diagnosis</a:t>
            </a:r>
            <a:r>
              <a:rPr lang="it-IT" dirty="0"/>
              <a:t> of a wide range of </a:t>
            </a:r>
            <a:r>
              <a:rPr lang="it-IT" dirty="0" err="1"/>
              <a:t>diseases</a:t>
            </a:r>
            <a:r>
              <a:rPr lang="it-IT" dirty="0"/>
              <a:t>. </a:t>
            </a:r>
            <a:r>
              <a:rPr lang="it-IT" dirty="0" err="1"/>
              <a:t>Classification</a:t>
            </a:r>
            <a:r>
              <a:rPr lang="it-IT" dirty="0"/>
              <a:t> can be </a:t>
            </a:r>
            <a:r>
              <a:rPr lang="it-IT" dirty="0" err="1"/>
              <a:t>performed</a:t>
            </a:r>
            <a:r>
              <a:rPr lang="it-IT" dirty="0"/>
              <a:t> by hand,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requires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steps: </a:t>
            </a:r>
            <a:r>
              <a:rPr lang="it-IT" dirty="0" err="1"/>
              <a:t>hence</a:t>
            </a:r>
            <a:r>
              <a:rPr lang="it-IT" dirty="0"/>
              <a:t>, ML-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approaches</a:t>
            </a:r>
            <a:r>
              <a:rPr lang="it-IT" dirty="0"/>
              <a:t> can be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beneficial</a:t>
            </a:r>
            <a:r>
              <a:rPr lang="it-IT" dirty="0"/>
              <a:t>.</a:t>
            </a:r>
          </a:p>
          <a:p>
            <a:r>
              <a:rPr lang="it-IT" dirty="0"/>
              <a:t>The </a:t>
            </a:r>
            <a:r>
              <a:rPr lang="it-IT" dirty="0" err="1"/>
              <a:t>research</a:t>
            </a:r>
            <a:r>
              <a:rPr lang="it-IT" dirty="0"/>
              <a:t> </a:t>
            </a:r>
            <a:r>
              <a:rPr lang="it-IT" dirty="0" err="1"/>
              <a:t>objective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to </a:t>
            </a:r>
            <a:r>
              <a:rPr lang="it-IT" dirty="0" err="1"/>
              <a:t>classify</a:t>
            </a:r>
            <a:r>
              <a:rPr lang="it-IT" dirty="0"/>
              <a:t> </a:t>
            </a:r>
            <a:r>
              <a:rPr lang="it-IT" dirty="0" err="1"/>
              <a:t>six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gait</a:t>
            </a:r>
            <a:r>
              <a:rPr lang="it-IT" dirty="0"/>
              <a:t>, one </a:t>
            </a:r>
            <a:r>
              <a:rPr lang="it-IT" dirty="0" err="1"/>
              <a:t>normal</a:t>
            </a:r>
            <a:r>
              <a:rPr lang="it-IT" dirty="0"/>
              <a:t> and </a:t>
            </a:r>
            <a:r>
              <a:rPr lang="it-IT" dirty="0" err="1"/>
              <a:t>five</a:t>
            </a:r>
            <a:r>
              <a:rPr lang="it-IT" dirty="0"/>
              <a:t> 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3D skeleton data and foot pressure data.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aim</a:t>
            </a:r>
            <a:r>
              <a:rPr lang="it-IT" dirty="0"/>
              <a:t> to strike a balance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and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.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developed</a:t>
            </a:r>
            <a:r>
              <a:rPr lang="it-IT" dirty="0"/>
              <a:t> 4 models: </a:t>
            </a:r>
            <a:r>
              <a:rPr lang="it-IT" dirty="0" err="1"/>
              <a:t>SkGRU</a:t>
            </a:r>
            <a:r>
              <a:rPr lang="it-IT" dirty="0"/>
              <a:t>, </a:t>
            </a:r>
            <a:r>
              <a:rPr lang="it-IT" dirty="0" err="1"/>
              <a:t>PrCNN</a:t>
            </a:r>
            <a:r>
              <a:rPr lang="it-IT" dirty="0"/>
              <a:t>, </a:t>
            </a:r>
            <a:r>
              <a:rPr lang="it-IT" dirty="0" err="1"/>
              <a:t>HyM</a:t>
            </a:r>
            <a:r>
              <a:rPr lang="it-IT" dirty="0"/>
              <a:t>, </a:t>
            </a:r>
            <a:r>
              <a:rPr lang="it-IT" dirty="0" err="1"/>
              <a:t>SkSNN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9366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Here an </a:t>
            </a:r>
            <a:r>
              <a:rPr lang="it-IT" dirty="0" err="1"/>
              <a:t>overview</a:t>
            </a:r>
            <a:r>
              <a:rPr lang="it-IT" dirty="0"/>
              <a:t> of the processing pipeline: Skeleton data and foot pressure data are </a:t>
            </a:r>
            <a:r>
              <a:rPr lang="it-IT" dirty="0" err="1"/>
              <a:t>fed</a:t>
            </a:r>
            <a:r>
              <a:rPr lang="it-IT" dirty="0"/>
              <a:t> to a GRU encoder and a CNN encoder </a:t>
            </a:r>
            <a:r>
              <a:rPr lang="it-IT" dirty="0" err="1"/>
              <a:t>respectively</a:t>
            </a:r>
            <a:r>
              <a:rPr lang="it-IT" dirty="0"/>
              <a:t>. The encoders </a:t>
            </a:r>
            <a:r>
              <a:rPr lang="it-IT" dirty="0" err="1"/>
              <a:t>extract</a:t>
            </a:r>
            <a:r>
              <a:rPr lang="it-IT" dirty="0"/>
              <a:t> </a:t>
            </a:r>
            <a:r>
              <a:rPr lang="it-IT" dirty="0" err="1"/>
              <a:t>relevant</a:t>
            </a:r>
            <a:r>
              <a:rPr lang="it-IT" dirty="0"/>
              <a:t> features from </a:t>
            </a:r>
            <a:r>
              <a:rPr lang="it-IT" dirty="0" err="1"/>
              <a:t>both</a:t>
            </a:r>
            <a:r>
              <a:rPr lang="it-IT" dirty="0"/>
              <a:t> the </a:t>
            </a:r>
            <a:r>
              <a:rPr lang="it-IT" dirty="0" err="1"/>
              <a:t>modalities</a:t>
            </a:r>
            <a:r>
              <a:rPr lang="it-IT" dirty="0"/>
              <a:t>. For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SkGRU</a:t>
            </a:r>
            <a:r>
              <a:rPr lang="it-IT" dirty="0"/>
              <a:t> and </a:t>
            </a:r>
            <a:r>
              <a:rPr lang="it-IT" dirty="0" err="1"/>
              <a:t>PrCNN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employed</a:t>
            </a:r>
            <a:r>
              <a:rPr lang="it-IT" dirty="0"/>
              <a:t> a </a:t>
            </a:r>
            <a:r>
              <a:rPr lang="it-IT" dirty="0" err="1"/>
              <a:t>shared</a:t>
            </a:r>
            <a:r>
              <a:rPr lang="it-IT" dirty="0"/>
              <a:t> </a:t>
            </a:r>
            <a:r>
              <a:rPr lang="it-IT" dirty="0" err="1"/>
              <a:t>classifier</a:t>
            </a:r>
            <a:r>
              <a:rPr lang="it-IT" dirty="0"/>
              <a:t> to </a:t>
            </a:r>
            <a:r>
              <a:rPr lang="it-IT" dirty="0" err="1"/>
              <a:t>evaluate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and the </a:t>
            </a:r>
            <a:r>
              <a:rPr lang="it-IT" dirty="0" err="1"/>
              <a:t>extracted</a:t>
            </a:r>
            <a:r>
              <a:rPr lang="it-IT" dirty="0"/>
              <a:t> features. </a:t>
            </a:r>
            <a:r>
              <a:rPr lang="it-IT" dirty="0" err="1"/>
              <a:t>Since</a:t>
            </a:r>
            <a:r>
              <a:rPr lang="it-IT" dirty="0"/>
              <a:t> the ultimate goal </a:t>
            </a:r>
            <a:r>
              <a:rPr lang="it-IT" dirty="0" err="1"/>
              <a:t>is</a:t>
            </a:r>
            <a:r>
              <a:rPr lang="it-IT" dirty="0"/>
              <a:t> to combine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modalities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propose a </a:t>
            </a:r>
            <a:r>
              <a:rPr lang="it-IT" dirty="0" err="1"/>
              <a:t>hybrid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model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merges</a:t>
            </a:r>
            <a:r>
              <a:rPr lang="it-IT" dirty="0"/>
              <a:t> the </a:t>
            </a:r>
            <a:r>
              <a:rPr lang="it-IT" dirty="0" err="1"/>
              <a:t>extracted</a:t>
            </a:r>
            <a:r>
              <a:rPr lang="it-IT" dirty="0"/>
              <a:t> features </a:t>
            </a:r>
            <a:r>
              <a:rPr lang="it-IT" dirty="0" err="1"/>
              <a:t>through</a:t>
            </a:r>
            <a:r>
              <a:rPr lang="it-IT" dirty="0"/>
              <a:t> a multi-</a:t>
            </a:r>
            <a:r>
              <a:rPr lang="it-IT" dirty="0" err="1"/>
              <a:t>modal</a:t>
            </a:r>
            <a:r>
              <a:rPr lang="it-IT" dirty="0"/>
              <a:t> fusion </a:t>
            </a:r>
            <a:r>
              <a:rPr lang="it-IT" dirty="0" err="1"/>
              <a:t>whose</a:t>
            </a:r>
            <a:r>
              <a:rPr lang="it-IT" dirty="0"/>
              <a:t> performance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evaluated</a:t>
            </a:r>
            <a:r>
              <a:rPr lang="it-IT" dirty="0"/>
              <a:t> with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classifier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for single-</a:t>
            </a:r>
            <a:r>
              <a:rPr lang="it-IT" dirty="0" err="1"/>
              <a:t>modal</a:t>
            </a:r>
            <a:r>
              <a:rPr lang="it-IT" dirty="0"/>
              <a:t> models.</a:t>
            </a:r>
          </a:p>
          <a:p>
            <a:r>
              <a:rPr lang="it-IT" dirty="0" err="1"/>
              <a:t>SkSNN</a:t>
            </a:r>
            <a:r>
              <a:rPr lang="it-IT" dirty="0"/>
              <a:t> </a:t>
            </a:r>
            <a:r>
              <a:rPr lang="it-IT" dirty="0" err="1"/>
              <a:t>lies</a:t>
            </a:r>
            <a:r>
              <a:rPr lang="it-IT" dirty="0"/>
              <a:t> </a:t>
            </a:r>
            <a:r>
              <a:rPr lang="it-IT" dirty="0" err="1"/>
              <a:t>outside</a:t>
            </a:r>
            <a:r>
              <a:rPr lang="it-IT" dirty="0"/>
              <a:t> the </a:t>
            </a:r>
            <a:r>
              <a:rPr lang="it-IT" dirty="0" err="1"/>
              <a:t>main</a:t>
            </a:r>
            <a:r>
              <a:rPr lang="it-IT" dirty="0"/>
              <a:t> processing pipeline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7970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Skeleton and foot pressure data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simultaneously</a:t>
            </a:r>
            <a:r>
              <a:rPr lang="it-IT" dirty="0"/>
              <a:t> </a:t>
            </a:r>
            <a:r>
              <a:rPr lang="it-IT" dirty="0" err="1"/>
              <a:t>collected</a:t>
            </a:r>
            <a:r>
              <a:rPr lang="it-IT" dirty="0"/>
              <a:t> in a </a:t>
            </a:r>
            <a:r>
              <a:rPr lang="it-IT" dirty="0" err="1"/>
              <a:t>controlled</a:t>
            </a:r>
            <a:r>
              <a:rPr lang="it-IT" dirty="0"/>
              <a:t> </a:t>
            </a:r>
            <a:r>
              <a:rPr lang="it-IT" dirty="0" err="1"/>
              <a:t>laboratory</a:t>
            </a:r>
            <a:r>
              <a:rPr lang="it-IT" dirty="0"/>
              <a:t> setup. 12 </a:t>
            </a:r>
            <a:r>
              <a:rPr lang="it-IT" dirty="0" err="1"/>
              <a:t>healthy</a:t>
            </a:r>
            <a:r>
              <a:rPr lang="it-IT" dirty="0"/>
              <a:t> male </a:t>
            </a:r>
            <a:r>
              <a:rPr lang="it-IT" dirty="0" err="1"/>
              <a:t>subject</a:t>
            </a:r>
            <a:r>
              <a:rPr lang="it-IT" dirty="0"/>
              <a:t> </a:t>
            </a:r>
            <a:r>
              <a:rPr lang="it-IT" dirty="0" err="1"/>
              <a:t>performed</a:t>
            </a:r>
            <a:r>
              <a:rPr lang="it-IT" dirty="0"/>
              <a:t> 20 trials for </a:t>
            </a:r>
            <a:r>
              <a:rPr lang="it-IT" dirty="0" err="1"/>
              <a:t>each</a:t>
            </a:r>
            <a:r>
              <a:rPr lang="it-IT" dirty="0"/>
              <a:t> of the 6 </a:t>
            </a:r>
            <a:r>
              <a:rPr lang="it-IT" dirty="0" err="1"/>
              <a:t>gaits</a:t>
            </a:r>
            <a:r>
              <a:rPr lang="it-IT" dirty="0"/>
              <a:t>, </a:t>
            </a:r>
            <a:r>
              <a:rPr lang="it-IT" dirty="0" err="1"/>
              <a:t>totaling</a:t>
            </a:r>
            <a:r>
              <a:rPr lang="it-IT" dirty="0"/>
              <a:t> 1440 skeleton samples and 1440 foot pressure samples. The </a:t>
            </a:r>
            <a:r>
              <a:rPr lang="it-IT" dirty="0" err="1"/>
              <a:t>subjects</a:t>
            </a:r>
            <a:r>
              <a:rPr lang="it-IT" dirty="0"/>
              <a:t> </a:t>
            </a:r>
            <a:r>
              <a:rPr lang="it-IT" dirty="0" err="1"/>
              <a:t>simulated</a:t>
            </a:r>
            <a:r>
              <a:rPr lang="it-IT" dirty="0"/>
              <a:t> the </a:t>
            </a: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gaits</a:t>
            </a:r>
            <a:r>
              <a:rPr lang="it-IT" dirty="0"/>
              <a:t> (elencarli?). </a:t>
            </a:r>
          </a:p>
          <a:p>
            <a:r>
              <a:rPr lang="it-IT" dirty="0"/>
              <a:t>Skeleton data </a:t>
            </a:r>
            <a:r>
              <a:rPr lang="it-IT" dirty="0" err="1"/>
              <a:t>consists</a:t>
            </a:r>
            <a:r>
              <a:rPr lang="it-IT" dirty="0"/>
              <a:t> of 3D </a:t>
            </a:r>
            <a:r>
              <a:rPr lang="it-IT" dirty="0" err="1"/>
              <a:t>coordinates</a:t>
            </a:r>
            <a:r>
              <a:rPr lang="it-IT" dirty="0"/>
              <a:t> from 33 joints </a:t>
            </a:r>
            <a:r>
              <a:rPr lang="it-IT" dirty="0" err="1"/>
              <a:t>collected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a single </a:t>
            </a:r>
            <a:r>
              <a:rPr lang="it-IT" dirty="0" err="1"/>
              <a:t>depth</a:t>
            </a:r>
            <a:r>
              <a:rPr lang="it-IT" dirty="0"/>
              <a:t> camera.</a:t>
            </a:r>
          </a:p>
          <a:p>
            <a:r>
              <a:rPr lang="it-IT" dirty="0"/>
              <a:t>Foot pressure data are </a:t>
            </a:r>
            <a:r>
              <a:rPr lang="it-IT" dirty="0" err="1"/>
              <a:t>collected</a:t>
            </a:r>
            <a:r>
              <a:rPr lang="it-IT" dirty="0"/>
              <a:t> from a 1280x480 mm </a:t>
            </a:r>
            <a:r>
              <a:rPr lang="it-IT" dirty="0" err="1"/>
              <a:t>sized</a:t>
            </a:r>
            <a:r>
              <a:rPr lang="it-IT" dirty="0"/>
              <a:t> pressure </a:t>
            </a:r>
            <a:r>
              <a:rPr lang="it-IT" dirty="0" err="1"/>
              <a:t>plate</a:t>
            </a:r>
            <a:r>
              <a:rPr lang="it-IT" dirty="0"/>
              <a:t> (GW1100)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expressed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1-channel images with input </a:t>
            </a:r>
            <a:r>
              <a:rPr lang="it-IT" dirty="0" err="1"/>
              <a:t>shape</a:t>
            </a:r>
            <a:r>
              <a:rPr lang="it-IT" dirty="0"/>
              <a:t> (1,128,48)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9135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normalized</a:t>
            </a:r>
            <a:r>
              <a:rPr lang="it-IT" dirty="0"/>
              <a:t> skeleton data </a:t>
            </a:r>
            <a:r>
              <a:rPr lang="it-IT" dirty="0" err="1"/>
              <a:t>centering</a:t>
            </a:r>
            <a:r>
              <a:rPr lang="it-IT" dirty="0"/>
              <a:t> the </a:t>
            </a:r>
            <a:r>
              <a:rPr lang="it-IT" dirty="0" err="1"/>
              <a:t>coordinates</a:t>
            </a:r>
            <a:r>
              <a:rPr lang="it-IT" dirty="0"/>
              <a:t> of </a:t>
            </a:r>
            <a:r>
              <a:rPr lang="it-IT" dirty="0" err="1"/>
              <a:t>each</a:t>
            </a:r>
            <a:r>
              <a:rPr lang="it-IT" dirty="0"/>
              <a:t> skeleton joint </a:t>
            </a:r>
            <a:r>
              <a:rPr lang="it-IT" dirty="0" err="1"/>
              <a:t>relatively</a:t>
            </a:r>
            <a:r>
              <a:rPr lang="it-IT" dirty="0"/>
              <a:t> to the </a:t>
            </a:r>
            <a:r>
              <a:rPr lang="it-IT" dirty="0" err="1"/>
              <a:t>pelvis</a:t>
            </a:r>
            <a:r>
              <a:rPr lang="it-IT" dirty="0"/>
              <a:t> joint. At </a:t>
            </a:r>
            <a:r>
              <a:rPr lang="it-IT" dirty="0" err="1"/>
              <a:t>each</a:t>
            </a:r>
            <a:r>
              <a:rPr lang="it-IT" dirty="0"/>
              <a:t> time step in the skeleton </a:t>
            </a:r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coordinate (</a:t>
            </a:r>
            <a:r>
              <a:rPr lang="it-IT" dirty="0" err="1"/>
              <a:t>x,y,z</a:t>
            </a:r>
            <a:r>
              <a:rPr lang="it-IT" dirty="0"/>
              <a:t>)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transformed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(</a:t>
            </a:r>
            <a:r>
              <a:rPr lang="it-IT" dirty="0" err="1"/>
              <a:t>x’,y’,z</a:t>
            </a:r>
            <a:r>
              <a:rPr lang="it-IT" dirty="0"/>
              <a:t>’) by </a:t>
            </a:r>
            <a:r>
              <a:rPr lang="it-IT" dirty="0" err="1"/>
              <a:t>subtracting</a:t>
            </a:r>
            <a:r>
              <a:rPr lang="it-IT" dirty="0"/>
              <a:t> </a:t>
            </a:r>
            <a:r>
              <a:rPr lang="it-IT" dirty="0" err="1"/>
              <a:t>pelvis</a:t>
            </a:r>
            <a:r>
              <a:rPr lang="it-IT" dirty="0"/>
              <a:t> </a:t>
            </a:r>
            <a:r>
              <a:rPr lang="it-IT" dirty="0" err="1"/>
              <a:t>coordinates</a:t>
            </a:r>
            <a:r>
              <a:rPr lang="it-IT" dirty="0"/>
              <a:t> (so </a:t>
            </a:r>
            <a:r>
              <a:rPr lang="it-IT" dirty="0" err="1"/>
              <a:t>pelvis</a:t>
            </a:r>
            <a:r>
              <a:rPr lang="it-IT" dirty="0"/>
              <a:t> </a:t>
            </a:r>
            <a:r>
              <a:rPr lang="it-IT" dirty="0" err="1"/>
              <a:t>positioned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(0,0,0).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transformation</a:t>
            </a:r>
            <a:r>
              <a:rPr lang="it-IT" dirty="0"/>
              <a:t> </a:t>
            </a:r>
            <a:r>
              <a:rPr lang="it-IT" dirty="0" err="1"/>
              <a:t>aligns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skeletons </a:t>
            </a:r>
            <a:r>
              <a:rPr lang="it-IT" dirty="0" err="1"/>
              <a:t>relatively</a:t>
            </a:r>
            <a:r>
              <a:rPr lang="it-IT" dirty="0"/>
              <a:t> to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pelvis</a:t>
            </a:r>
            <a:r>
              <a:rPr lang="it-IT" dirty="0"/>
              <a:t> joint, </a:t>
            </a:r>
            <a:r>
              <a:rPr lang="it-IT" dirty="0" err="1"/>
              <a:t>ensuring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motion</a:t>
            </a:r>
            <a:r>
              <a:rPr lang="it-IT" dirty="0"/>
              <a:t> </a:t>
            </a:r>
            <a:r>
              <a:rPr lang="it-IT" dirty="0" err="1"/>
              <a:t>analyses</a:t>
            </a:r>
            <a:r>
              <a:rPr lang="it-IT" dirty="0"/>
              <a:t> focus </a:t>
            </a:r>
            <a:r>
              <a:rPr lang="it-IT" dirty="0" err="1"/>
              <a:t>solely</a:t>
            </a:r>
            <a:r>
              <a:rPr lang="it-IT" dirty="0"/>
              <a:t> on the relative positions of joints and </a:t>
            </a:r>
            <a:r>
              <a:rPr lang="it-IT" dirty="0" err="1"/>
              <a:t>ensuring</a:t>
            </a:r>
            <a:r>
              <a:rPr lang="it-IT" dirty="0"/>
              <a:t> frame-to-frame </a:t>
            </a:r>
            <a:r>
              <a:rPr lang="it-IT" dirty="0" err="1"/>
              <a:t>comparability</a:t>
            </a:r>
            <a:r>
              <a:rPr lang="it-IT" dirty="0"/>
              <a:t>. </a:t>
            </a:r>
          </a:p>
          <a:p>
            <a:r>
              <a:rPr lang="it-IT" dirty="0"/>
              <a:t>Foot pressure data are </a:t>
            </a:r>
            <a:r>
              <a:rPr lang="it-IT" dirty="0" err="1"/>
              <a:t>normalized</a:t>
            </a:r>
            <a:r>
              <a:rPr lang="it-IT" dirty="0"/>
              <a:t> </a:t>
            </a:r>
            <a:r>
              <a:rPr lang="it-IT" dirty="0" err="1"/>
              <a:t>dividing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by 100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0124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SkGRU</a:t>
            </a:r>
            <a:r>
              <a:rPr lang="it-IT" dirty="0"/>
              <a:t> to </a:t>
            </a:r>
            <a:r>
              <a:rPr lang="it-IT" dirty="0" err="1"/>
              <a:t>extract</a:t>
            </a:r>
            <a:r>
              <a:rPr lang="it-IT" dirty="0"/>
              <a:t> </a:t>
            </a:r>
            <a:r>
              <a:rPr lang="it-IT" dirty="0" err="1"/>
              <a:t>relevant</a:t>
            </a:r>
            <a:r>
              <a:rPr lang="it-IT" dirty="0"/>
              <a:t> features from Skeleton data.</a:t>
            </a:r>
          </a:p>
          <a:p>
            <a:r>
              <a:rPr lang="it-IT" dirty="0"/>
              <a:t>Input </a:t>
            </a:r>
            <a:r>
              <a:rPr lang="it-IT" dirty="0" err="1"/>
              <a:t>shape</a:t>
            </a:r>
            <a:r>
              <a:rPr lang="it-IT" dirty="0"/>
              <a:t> </a:t>
            </a:r>
            <a:r>
              <a:rPr lang="it-IT" dirty="0" err="1"/>
              <a:t>depends</a:t>
            </a:r>
            <a:r>
              <a:rPr lang="it-IT" dirty="0"/>
              <a:t> on the </a:t>
            </a:r>
            <a:r>
              <a:rPr lang="it-IT" dirty="0" err="1"/>
              <a:t>considered</a:t>
            </a:r>
            <a:r>
              <a:rPr lang="it-IT" dirty="0"/>
              <a:t> joints. </a:t>
            </a:r>
            <a:r>
              <a:rPr lang="it-IT" dirty="0" err="1"/>
              <a:t>Starting</a:t>
            </a:r>
            <a:r>
              <a:rPr lang="it-IT" dirty="0"/>
              <a:t> from 33 joints,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excluded</a:t>
            </a:r>
            <a:r>
              <a:rPr lang="it-IT" dirty="0"/>
              <a:t> face and arm joints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shown</a:t>
            </a:r>
            <a:r>
              <a:rPr lang="it-IT" dirty="0"/>
              <a:t> to </a:t>
            </a:r>
            <a:r>
              <a:rPr lang="it-IT" dirty="0" err="1"/>
              <a:t>negatively</a:t>
            </a:r>
            <a:r>
              <a:rPr lang="it-IT" dirty="0"/>
              <a:t> impact </a:t>
            </a:r>
            <a:r>
              <a:rPr lang="it-IT" dirty="0" err="1"/>
              <a:t>classification</a:t>
            </a:r>
            <a:r>
              <a:rPr lang="it-IT" dirty="0"/>
              <a:t> performance. </a:t>
            </a:r>
          </a:p>
          <a:p>
            <a:r>
              <a:rPr lang="it-IT" dirty="0"/>
              <a:t>First group: input </a:t>
            </a:r>
            <a:r>
              <a:rPr lang="it-IT" dirty="0" err="1"/>
              <a:t>shape</a:t>
            </a:r>
            <a:r>
              <a:rPr lang="it-IT" dirty="0"/>
              <a:t> (100,42) </a:t>
            </a:r>
            <a:r>
              <a:rPr lang="it-IT" dirty="0" err="1"/>
              <a:t>considering</a:t>
            </a:r>
            <a:r>
              <a:rPr lang="it-IT" dirty="0"/>
              <a:t> 14 joints</a:t>
            </a:r>
          </a:p>
          <a:p>
            <a:r>
              <a:rPr lang="it-IT" dirty="0"/>
              <a:t>Second group: input </a:t>
            </a:r>
            <a:r>
              <a:rPr lang="it-IT" dirty="0" err="1"/>
              <a:t>shape</a:t>
            </a:r>
            <a:r>
              <a:rPr lang="it-IT" dirty="0"/>
              <a:t> (100,27) </a:t>
            </a:r>
            <a:r>
              <a:rPr lang="it-IT" dirty="0" err="1"/>
              <a:t>considering</a:t>
            </a:r>
            <a:r>
              <a:rPr lang="it-IT" dirty="0"/>
              <a:t> 9 joints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pelvis</a:t>
            </a:r>
            <a:r>
              <a:rPr lang="it-IT" dirty="0"/>
              <a:t>, </a:t>
            </a:r>
            <a:r>
              <a:rPr lang="it-IT" dirty="0" err="1"/>
              <a:t>hips</a:t>
            </a:r>
            <a:r>
              <a:rPr lang="it-IT" dirty="0"/>
              <a:t>, </a:t>
            </a:r>
            <a:r>
              <a:rPr lang="it-IT" dirty="0" err="1"/>
              <a:t>knees</a:t>
            </a:r>
            <a:r>
              <a:rPr lang="it-IT" dirty="0"/>
              <a:t>, </a:t>
            </a:r>
            <a:r>
              <a:rPr lang="it-IT" dirty="0" err="1"/>
              <a:t>ankles</a:t>
            </a:r>
            <a:r>
              <a:rPr lang="it-IT" dirty="0"/>
              <a:t> and feet).</a:t>
            </a:r>
          </a:p>
          <a:p>
            <a:r>
              <a:rPr lang="it-IT" dirty="0"/>
              <a:t>Core: 4 </a:t>
            </a:r>
            <a:r>
              <a:rPr lang="it-IT" dirty="0" err="1"/>
              <a:t>GRUs</a:t>
            </a:r>
            <a:r>
              <a:rPr lang="it-IT" dirty="0"/>
              <a:t> (</a:t>
            </a:r>
            <a:r>
              <a:rPr lang="it-IT" dirty="0" err="1"/>
              <a:t>gated</a:t>
            </a:r>
            <a:r>
              <a:rPr lang="it-IT" dirty="0"/>
              <a:t> </a:t>
            </a:r>
            <a:r>
              <a:rPr lang="it-IT" dirty="0" err="1"/>
              <a:t>recurrent</a:t>
            </a:r>
            <a:r>
              <a:rPr lang="it-IT" dirty="0"/>
              <a:t> </a:t>
            </a:r>
            <a:r>
              <a:rPr lang="it-IT" dirty="0" err="1"/>
              <a:t>units</a:t>
            </a:r>
            <a:r>
              <a:rPr lang="it-IT" dirty="0"/>
              <a:t>) to </a:t>
            </a:r>
            <a:r>
              <a:rPr lang="it-IT" dirty="0" err="1"/>
              <a:t>capture</a:t>
            </a:r>
            <a:r>
              <a:rPr lang="it-IT" dirty="0"/>
              <a:t> long-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dependencies</a:t>
            </a:r>
            <a:r>
              <a:rPr lang="it-IT" dirty="0"/>
              <a:t> and mitigate </a:t>
            </a:r>
            <a:r>
              <a:rPr lang="it-IT" dirty="0" err="1"/>
              <a:t>vanishing</a:t>
            </a:r>
            <a:r>
              <a:rPr lang="it-IT" dirty="0"/>
              <a:t>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.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choose</a:t>
            </a:r>
            <a:r>
              <a:rPr lang="it-IT" dirty="0"/>
              <a:t> </a:t>
            </a:r>
            <a:r>
              <a:rPr lang="it-IT" dirty="0" err="1"/>
              <a:t>GRUs</a:t>
            </a:r>
            <a:r>
              <a:rPr lang="it-IT" dirty="0"/>
              <a:t> </a:t>
            </a:r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LSTMs</a:t>
            </a:r>
            <a:r>
              <a:rPr lang="it-IT" dirty="0"/>
              <a:t> (</a:t>
            </a:r>
            <a:r>
              <a:rPr lang="it-IT" dirty="0" err="1"/>
              <a:t>used</a:t>
            </a:r>
            <a:r>
              <a:rPr lang="it-IT" dirty="0"/>
              <a:t> in </a:t>
            </a:r>
            <a:r>
              <a:rPr lang="it-IT" dirty="0" err="1"/>
              <a:t>several</a:t>
            </a:r>
            <a:r>
              <a:rPr lang="it-IT" dirty="0"/>
              <a:t> studies) to </a:t>
            </a:r>
            <a:r>
              <a:rPr lang="it-IT" dirty="0" err="1"/>
              <a:t>keep</a:t>
            </a:r>
            <a:r>
              <a:rPr lang="it-IT" dirty="0"/>
              <a:t> the model </a:t>
            </a:r>
            <a:r>
              <a:rPr lang="it-IT" dirty="0" err="1"/>
              <a:t>lightweight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exploiting</a:t>
            </a:r>
            <a:r>
              <a:rPr lang="it-IT" dirty="0"/>
              <a:t> </a:t>
            </a:r>
            <a:r>
              <a:rPr lang="it-IT" dirty="0" err="1"/>
              <a:t>typical</a:t>
            </a:r>
            <a:r>
              <a:rPr lang="it-IT" dirty="0"/>
              <a:t> </a:t>
            </a:r>
            <a:r>
              <a:rPr lang="it-IT" dirty="0" err="1"/>
              <a:t>recurrent</a:t>
            </a:r>
            <a:r>
              <a:rPr lang="it-IT" dirty="0"/>
              <a:t> </a:t>
            </a:r>
            <a:r>
              <a:rPr lang="it-IT" dirty="0" err="1"/>
              <a:t>neural</a:t>
            </a:r>
            <a:r>
              <a:rPr lang="it-IT" dirty="0"/>
              <a:t> network </a:t>
            </a:r>
            <a:r>
              <a:rPr lang="it-IT" dirty="0" err="1"/>
              <a:t>advantages</a:t>
            </a:r>
            <a:r>
              <a:rPr lang="it-IT" dirty="0"/>
              <a:t>. The first 3 GRU </a:t>
            </a:r>
            <a:r>
              <a:rPr lang="it-IT" dirty="0" err="1"/>
              <a:t>layers</a:t>
            </a:r>
            <a:r>
              <a:rPr lang="it-IT" dirty="0"/>
              <a:t> </a:t>
            </a:r>
            <a:r>
              <a:rPr lang="it-IT" dirty="0" err="1"/>
              <a:t>return</a:t>
            </a:r>
            <a:r>
              <a:rPr lang="it-IT" dirty="0"/>
              <a:t> the full </a:t>
            </a:r>
            <a:r>
              <a:rPr lang="it-IT" dirty="0" err="1"/>
              <a:t>sequence</a:t>
            </a:r>
            <a:r>
              <a:rPr lang="it-IT" dirty="0"/>
              <a:t> of </a:t>
            </a:r>
            <a:r>
              <a:rPr lang="it-IT" dirty="0" err="1"/>
              <a:t>hidden</a:t>
            </a:r>
            <a:r>
              <a:rPr lang="it-IT" dirty="0"/>
              <a:t> </a:t>
            </a:r>
            <a:r>
              <a:rPr lang="it-IT" dirty="0" err="1"/>
              <a:t>states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are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input to the </a:t>
            </a:r>
            <a:r>
              <a:rPr lang="it-IT" dirty="0" err="1"/>
              <a:t>subsequent</a:t>
            </a:r>
            <a:r>
              <a:rPr lang="it-IT" dirty="0"/>
              <a:t> GRU </a:t>
            </a:r>
            <a:r>
              <a:rPr lang="it-IT" dirty="0" err="1"/>
              <a:t>layers</a:t>
            </a:r>
            <a:r>
              <a:rPr lang="it-IT" dirty="0"/>
              <a:t>. The </a:t>
            </a:r>
            <a:r>
              <a:rPr lang="it-IT" dirty="0" err="1"/>
              <a:t>final</a:t>
            </a:r>
            <a:r>
              <a:rPr lang="it-IT" dirty="0"/>
              <a:t> GRU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returns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the last </a:t>
            </a:r>
            <a:r>
              <a:rPr lang="it-IT" dirty="0" err="1"/>
              <a:t>hidden</a:t>
            </a:r>
            <a:r>
              <a:rPr lang="it-IT" dirty="0"/>
              <a:t> state,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passed</a:t>
            </a:r>
            <a:r>
              <a:rPr lang="it-IT" dirty="0"/>
              <a:t> to the dense </a:t>
            </a:r>
            <a:r>
              <a:rPr lang="it-IT" dirty="0" err="1"/>
              <a:t>layer</a:t>
            </a:r>
            <a:r>
              <a:rPr lang="it-IT" dirty="0"/>
              <a:t> for </a:t>
            </a:r>
            <a:r>
              <a:rPr lang="it-IT" dirty="0" err="1"/>
              <a:t>converting</a:t>
            </a:r>
            <a:r>
              <a:rPr lang="it-IT" dirty="0"/>
              <a:t> the features to the </a:t>
            </a:r>
            <a:r>
              <a:rPr lang="it-IT" dirty="0" err="1"/>
              <a:t>desired</a:t>
            </a:r>
            <a:r>
              <a:rPr lang="it-IT" dirty="0"/>
              <a:t> size.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4071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PrCNN</a:t>
            </a:r>
            <a:r>
              <a:rPr lang="it-IT" dirty="0"/>
              <a:t> to </a:t>
            </a:r>
            <a:r>
              <a:rPr lang="it-IT" dirty="0" err="1"/>
              <a:t>extract</a:t>
            </a:r>
            <a:r>
              <a:rPr lang="it-IT" dirty="0"/>
              <a:t> </a:t>
            </a:r>
            <a:r>
              <a:rPr lang="it-IT" dirty="0" err="1"/>
              <a:t>relevant</a:t>
            </a:r>
            <a:r>
              <a:rPr lang="it-IT" dirty="0"/>
              <a:t> features from foot pressure data.</a:t>
            </a:r>
          </a:p>
          <a:p>
            <a:r>
              <a:rPr lang="it-IT" dirty="0"/>
              <a:t>Input </a:t>
            </a:r>
            <a:r>
              <a:rPr lang="it-IT" dirty="0" err="1"/>
              <a:t>shape</a:t>
            </a:r>
            <a:r>
              <a:rPr lang="it-IT" dirty="0"/>
              <a:t> 128x48x1, 1-channel images.</a:t>
            </a:r>
          </a:p>
          <a:p>
            <a:r>
              <a:rPr lang="it-IT" dirty="0"/>
              <a:t>The input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firstly</a:t>
            </a:r>
            <a:r>
              <a:rPr lang="it-IT" dirty="0"/>
              <a:t> </a:t>
            </a:r>
            <a:r>
              <a:rPr lang="it-IT" dirty="0" err="1"/>
              <a:t>processed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named</a:t>
            </a:r>
            <a:r>
              <a:rPr lang="it-IT" dirty="0"/>
              <a:t> feature </a:t>
            </a:r>
            <a:r>
              <a:rPr lang="it-IT" dirty="0" err="1"/>
              <a:t>blocks</a:t>
            </a:r>
            <a:r>
              <a:rPr lang="it-IT" dirty="0"/>
              <a:t>. </a:t>
            </a:r>
            <a:r>
              <a:rPr lang="it-IT" dirty="0" err="1"/>
              <a:t>Each</a:t>
            </a:r>
            <a:r>
              <a:rPr lang="it-IT" dirty="0"/>
              <a:t> Feature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includes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2D </a:t>
            </a:r>
            <a:r>
              <a:rPr lang="it-IT" dirty="0" err="1"/>
              <a:t>convolutional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 with 3x3 filters, stride of 1 and zero </a:t>
            </a:r>
            <a:r>
              <a:rPr lang="it-IT" dirty="0" err="1"/>
              <a:t>padding</a:t>
            </a:r>
            <a:r>
              <a:rPr lang="it-IT" dirty="0"/>
              <a:t> to </a:t>
            </a:r>
            <a:r>
              <a:rPr lang="it-IT" dirty="0" err="1"/>
              <a:t>preserve</a:t>
            </a:r>
            <a:r>
              <a:rPr lang="it-IT" dirty="0"/>
              <a:t> the input </a:t>
            </a:r>
            <a:r>
              <a:rPr lang="it-IT" dirty="0" err="1"/>
              <a:t>shape</a:t>
            </a:r>
            <a:r>
              <a:rPr lang="it-IT" dirty="0"/>
              <a:t>. </a:t>
            </a:r>
            <a:r>
              <a:rPr lang="it-IT" dirty="0" err="1"/>
              <a:t>Then</a:t>
            </a:r>
            <a:r>
              <a:rPr lang="it-IT" dirty="0"/>
              <a:t>, a 2x2 </a:t>
            </a:r>
            <a:r>
              <a:rPr lang="it-IT" dirty="0" err="1"/>
              <a:t>maxpooling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to reduce the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dimensions</a:t>
            </a:r>
            <a:r>
              <a:rPr lang="it-IT" dirty="0"/>
              <a:t>.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channels</a:t>
            </a:r>
            <a:r>
              <a:rPr lang="it-IT" dirty="0"/>
              <a:t> </a:t>
            </a:r>
            <a:r>
              <a:rPr lang="it-IT" dirty="0" err="1"/>
              <a:t>increases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the feature </a:t>
            </a:r>
            <a:r>
              <a:rPr lang="it-IT" dirty="0" err="1"/>
              <a:t>blocks</a:t>
            </a:r>
            <a:r>
              <a:rPr lang="it-IT" dirty="0"/>
              <a:t> to </a:t>
            </a:r>
            <a:r>
              <a:rPr lang="it-IT" dirty="0" err="1"/>
              <a:t>capture</a:t>
            </a:r>
            <a:r>
              <a:rPr lang="it-IT" dirty="0"/>
              <a:t> </a:t>
            </a:r>
            <a:r>
              <a:rPr lang="it-IT" dirty="0" err="1"/>
              <a:t>progressively</a:t>
            </a:r>
            <a:r>
              <a:rPr lang="it-IT" dirty="0"/>
              <a:t> high-</a:t>
            </a:r>
            <a:r>
              <a:rPr lang="it-IT" dirty="0" err="1"/>
              <a:t>level</a:t>
            </a:r>
            <a:r>
              <a:rPr lang="it-IT" dirty="0"/>
              <a:t> features. </a:t>
            </a:r>
            <a:r>
              <a:rPr lang="it-IT" dirty="0" err="1"/>
              <a:t>Subsequently</a:t>
            </a:r>
            <a:r>
              <a:rPr lang="it-IT" dirty="0"/>
              <a:t>, a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 err="1"/>
              <a:t>named</a:t>
            </a:r>
            <a:r>
              <a:rPr lang="it-IT" dirty="0"/>
              <a:t> Focus Block.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module</a:t>
            </a:r>
            <a:r>
              <a:rPr lang="it-IT" dirty="0"/>
              <a:t> </a:t>
            </a:r>
            <a:r>
              <a:rPr lang="it-IT" dirty="0" err="1"/>
              <a:t>consists</a:t>
            </a:r>
            <a:r>
              <a:rPr lang="it-IT" dirty="0"/>
              <a:t> of a </a:t>
            </a:r>
            <a:r>
              <a:rPr lang="it-IT" dirty="0" err="1"/>
              <a:t>convolutional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with 128 filters and the </a:t>
            </a:r>
            <a:r>
              <a:rPr lang="it-IT" dirty="0" err="1"/>
              <a:t>same</a:t>
            </a:r>
            <a:r>
              <a:rPr lang="it-IT" dirty="0"/>
              <a:t> settings of the feature </a:t>
            </a:r>
            <a:r>
              <a:rPr lang="it-IT" dirty="0" err="1"/>
              <a:t>blocks</a:t>
            </a:r>
            <a:r>
              <a:rPr lang="it-IT" dirty="0"/>
              <a:t>, </a:t>
            </a:r>
            <a:r>
              <a:rPr lang="it-IT" dirty="0" err="1"/>
              <a:t>followed</a:t>
            </a:r>
            <a:r>
              <a:rPr lang="it-IT" dirty="0"/>
              <a:t> by a batch </a:t>
            </a:r>
            <a:r>
              <a:rPr lang="it-IT" dirty="0" err="1"/>
              <a:t>normalization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and a </a:t>
            </a:r>
            <a:r>
              <a:rPr lang="it-IT" dirty="0" err="1"/>
              <a:t>pointwise</a:t>
            </a:r>
            <a:r>
              <a:rPr lang="it-IT" dirty="0"/>
              <a:t> </a:t>
            </a:r>
            <a:r>
              <a:rPr lang="it-IT" dirty="0" err="1"/>
              <a:t>convolution</a:t>
            </a:r>
            <a:r>
              <a:rPr lang="it-IT" dirty="0"/>
              <a:t>. </a:t>
            </a:r>
            <a:r>
              <a:rPr lang="it-IT" dirty="0" err="1"/>
              <a:t>Since</a:t>
            </a:r>
            <a:r>
              <a:rPr lang="it-IT" dirty="0"/>
              <a:t> the foot pressure images are sparse, </a:t>
            </a:r>
            <a:r>
              <a:rPr lang="it-IT" dirty="0" err="1"/>
              <a:t>this</a:t>
            </a:r>
            <a:r>
              <a:rPr lang="it-IT" dirty="0"/>
              <a:t> design </a:t>
            </a:r>
            <a:r>
              <a:rPr lang="it-IT" dirty="0" err="1"/>
              <a:t>allows</a:t>
            </a:r>
            <a:r>
              <a:rPr lang="it-IT" dirty="0"/>
              <a:t> the network to focus on the </a:t>
            </a:r>
            <a:r>
              <a:rPr lang="it-IT" dirty="0" err="1"/>
              <a:t>most</a:t>
            </a:r>
            <a:r>
              <a:rPr lang="it-IT" dirty="0"/>
              <a:t> informative </a:t>
            </a:r>
            <a:r>
              <a:rPr lang="it-IT" dirty="0" err="1"/>
              <a:t>regions</a:t>
            </a:r>
            <a:r>
              <a:rPr lang="it-IT" dirty="0"/>
              <a:t>. </a:t>
            </a:r>
          </a:p>
          <a:p>
            <a:r>
              <a:rPr lang="it-IT" dirty="0" err="1"/>
              <a:t>ReLU</a:t>
            </a:r>
            <a:r>
              <a:rPr lang="it-IT" dirty="0"/>
              <a:t> </a:t>
            </a:r>
            <a:r>
              <a:rPr lang="it-IT" dirty="0" err="1"/>
              <a:t>activation</a:t>
            </a:r>
            <a:r>
              <a:rPr lang="it-IT" dirty="0"/>
              <a:t> in the </a:t>
            </a:r>
            <a:r>
              <a:rPr lang="it-IT" dirty="0" err="1"/>
              <a:t>blocks</a:t>
            </a:r>
            <a:r>
              <a:rPr lang="it-IT" dirty="0"/>
              <a:t>. </a:t>
            </a:r>
          </a:p>
          <a:p>
            <a:r>
              <a:rPr lang="it-IT" dirty="0"/>
              <a:t>The feature </a:t>
            </a:r>
            <a:r>
              <a:rPr lang="it-IT" dirty="0" err="1"/>
              <a:t>maps</a:t>
            </a:r>
            <a:r>
              <a:rPr lang="it-IT" dirty="0"/>
              <a:t> are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flattened</a:t>
            </a:r>
            <a:r>
              <a:rPr lang="it-IT" dirty="0"/>
              <a:t> and </a:t>
            </a:r>
            <a:r>
              <a:rPr lang="it-IT" dirty="0" err="1"/>
              <a:t>passed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a </a:t>
            </a: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connected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with 128 </a:t>
            </a:r>
            <a:r>
              <a:rPr lang="it-IT" dirty="0" err="1"/>
              <a:t>neurons</a:t>
            </a:r>
            <a:r>
              <a:rPr lang="it-IT" dirty="0"/>
              <a:t>, </a:t>
            </a:r>
            <a:r>
              <a:rPr lang="it-IT" dirty="0" err="1"/>
              <a:t>followed</a:t>
            </a:r>
            <a:r>
              <a:rPr lang="it-IT" dirty="0"/>
              <a:t> by a dropout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reduces</a:t>
            </a:r>
            <a:r>
              <a:rPr lang="it-IT" dirty="0"/>
              <a:t> </a:t>
            </a:r>
            <a:r>
              <a:rPr lang="it-IT" dirty="0" err="1"/>
              <a:t>reliance</a:t>
            </a:r>
            <a:r>
              <a:rPr lang="it-IT" dirty="0"/>
              <a:t> on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neurons</a:t>
            </a:r>
            <a:r>
              <a:rPr lang="it-IT" dirty="0"/>
              <a:t> and </a:t>
            </a:r>
            <a:r>
              <a:rPr lang="it-IT" dirty="0" err="1"/>
              <a:t>encourages</a:t>
            </a:r>
            <a:r>
              <a:rPr lang="it-IT" dirty="0"/>
              <a:t> the network to </a:t>
            </a:r>
            <a:r>
              <a:rPr lang="it-IT" dirty="0" err="1"/>
              <a:t>learn</a:t>
            </a:r>
            <a:r>
              <a:rPr lang="it-IT" dirty="0"/>
              <a:t> more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representations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753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 the </a:t>
            </a:r>
            <a:r>
              <a:rPr lang="it-IT" dirty="0" err="1"/>
              <a:t>HyM</a:t>
            </a:r>
            <a:r>
              <a:rPr lang="it-IT" dirty="0"/>
              <a:t>, features </a:t>
            </a:r>
            <a:r>
              <a:rPr lang="it-IT" dirty="0" err="1"/>
              <a:t>extracted</a:t>
            </a:r>
            <a:r>
              <a:rPr lang="it-IT" dirty="0"/>
              <a:t> from </a:t>
            </a:r>
            <a:r>
              <a:rPr lang="it-IT" dirty="0" err="1"/>
              <a:t>SkGRU</a:t>
            </a:r>
            <a:r>
              <a:rPr lang="it-IT" dirty="0"/>
              <a:t> and </a:t>
            </a:r>
            <a:r>
              <a:rPr lang="it-IT" dirty="0" err="1"/>
              <a:t>PrCNN</a:t>
            </a:r>
            <a:r>
              <a:rPr lang="it-IT" dirty="0"/>
              <a:t> are </a:t>
            </a:r>
            <a:r>
              <a:rPr lang="it-IT" dirty="0" err="1"/>
              <a:t>combined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a feature-</a:t>
            </a:r>
            <a:r>
              <a:rPr lang="it-IT" dirty="0" err="1"/>
              <a:t>level</a:t>
            </a:r>
            <a:r>
              <a:rPr lang="it-IT" dirty="0"/>
              <a:t> data fusion. In </a:t>
            </a:r>
            <a:r>
              <a:rPr lang="it-IT" dirty="0" err="1"/>
              <a:t>this</a:t>
            </a:r>
            <a:r>
              <a:rPr lang="it-IT" dirty="0"/>
              <a:t> model, the features are </a:t>
            </a:r>
            <a:r>
              <a:rPr lang="it-IT" dirty="0" err="1"/>
              <a:t>integrated</a:t>
            </a:r>
            <a:r>
              <a:rPr lang="it-IT" dirty="0"/>
              <a:t> to </a:t>
            </a:r>
            <a:r>
              <a:rPr lang="it-IT" dirty="0" err="1"/>
              <a:t>capture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the </a:t>
            </a:r>
            <a:r>
              <a:rPr lang="it-IT" dirty="0" err="1"/>
              <a:t>spatial-temporal</a:t>
            </a:r>
            <a:r>
              <a:rPr lang="it-IT" dirty="0"/>
              <a:t> dynamics of the </a:t>
            </a:r>
            <a:r>
              <a:rPr lang="it-IT" dirty="0" err="1"/>
              <a:t>mody</a:t>
            </a:r>
            <a:r>
              <a:rPr lang="it-IT" dirty="0"/>
              <a:t> </a:t>
            </a:r>
            <a:r>
              <a:rPr lang="it-IT" dirty="0" err="1"/>
              <a:t>motion</a:t>
            </a:r>
            <a:r>
              <a:rPr lang="it-IT" dirty="0"/>
              <a:t> and </a:t>
            </a:r>
            <a:r>
              <a:rPr lang="it-IT" dirty="0" err="1"/>
              <a:t>plantar</a:t>
            </a:r>
            <a:r>
              <a:rPr lang="it-IT" dirty="0"/>
              <a:t> pressure </a:t>
            </a:r>
            <a:r>
              <a:rPr lang="it-IT" dirty="0" err="1"/>
              <a:t>distribution</a:t>
            </a:r>
            <a:r>
              <a:rPr lang="it-IT" dirty="0"/>
              <a:t> </a:t>
            </a:r>
            <a:r>
              <a:rPr lang="it-IT" dirty="0" err="1"/>
              <a:t>allowing</a:t>
            </a:r>
            <a:r>
              <a:rPr lang="it-IT" dirty="0"/>
              <a:t> a more </a:t>
            </a:r>
            <a:r>
              <a:rPr lang="it-IT" dirty="0" err="1"/>
              <a:t>comprehensive</a:t>
            </a:r>
            <a:r>
              <a:rPr lang="it-IT" dirty="0"/>
              <a:t> </a:t>
            </a:r>
            <a:r>
              <a:rPr lang="it-IT" dirty="0" err="1"/>
              <a:t>representation</a:t>
            </a:r>
            <a:r>
              <a:rPr lang="it-IT" dirty="0"/>
              <a:t> for </a:t>
            </a:r>
            <a:r>
              <a:rPr lang="it-IT" dirty="0" err="1"/>
              <a:t>gait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2404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classifier</a:t>
            </a:r>
            <a:r>
              <a:rPr lang="it-IT" dirty="0"/>
              <a:t>, </a:t>
            </a:r>
            <a:r>
              <a:rPr lang="it-IT" dirty="0" err="1"/>
              <a:t>shared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models just </a:t>
            </a:r>
            <a:r>
              <a:rPr lang="it-IT" dirty="0" err="1"/>
              <a:t>presented</a:t>
            </a:r>
            <a:r>
              <a:rPr lang="it-IT" dirty="0"/>
              <a:t>. The input features are </a:t>
            </a:r>
            <a:r>
              <a:rPr lang="it-IT" dirty="0" err="1"/>
              <a:t>firstly</a:t>
            </a:r>
            <a:r>
              <a:rPr lang="it-IT" dirty="0"/>
              <a:t> </a:t>
            </a:r>
            <a:r>
              <a:rPr lang="it-IT" dirty="0" err="1"/>
              <a:t>processed</a:t>
            </a:r>
            <a:r>
              <a:rPr lang="it-IT" dirty="0"/>
              <a:t> with a dropout </a:t>
            </a:r>
            <a:r>
              <a:rPr lang="it-IT" dirty="0" err="1"/>
              <a:t>layer</a:t>
            </a:r>
            <a:r>
              <a:rPr lang="it-IT" dirty="0"/>
              <a:t>, </a:t>
            </a:r>
            <a:r>
              <a:rPr lang="it-IT" dirty="0" err="1"/>
              <a:t>followed</a:t>
            </a:r>
            <a:r>
              <a:rPr lang="it-IT" dirty="0"/>
              <a:t> by a batch </a:t>
            </a:r>
            <a:r>
              <a:rPr lang="it-IT" dirty="0" err="1"/>
              <a:t>normalizatoin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to </a:t>
            </a:r>
            <a:r>
              <a:rPr lang="it-IT" dirty="0" err="1"/>
              <a:t>regularize</a:t>
            </a:r>
            <a:r>
              <a:rPr lang="it-IT" dirty="0"/>
              <a:t>, </a:t>
            </a:r>
            <a:r>
              <a:rPr lang="it-IT" dirty="0" err="1"/>
              <a:t>stabilize</a:t>
            </a:r>
            <a:r>
              <a:rPr lang="it-IT" dirty="0"/>
              <a:t> and accelerate the learning </a:t>
            </a:r>
            <a:r>
              <a:rPr lang="it-IT" dirty="0" err="1"/>
              <a:t>process</a:t>
            </a:r>
            <a:r>
              <a:rPr lang="it-IT" dirty="0"/>
              <a:t>. </a:t>
            </a:r>
          </a:p>
          <a:p>
            <a:r>
              <a:rPr lang="it-IT" dirty="0"/>
              <a:t>The core </a:t>
            </a:r>
            <a:r>
              <a:rPr lang="it-IT" dirty="0" err="1"/>
              <a:t>consists</a:t>
            </a:r>
            <a:r>
              <a:rPr lang="it-IT" dirty="0"/>
              <a:t> of 4 dense </a:t>
            </a:r>
            <a:r>
              <a:rPr lang="it-IT" dirty="0" err="1"/>
              <a:t>layers</a:t>
            </a:r>
            <a:r>
              <a:rPr lang="it-IT" dirty="0"/>
              <a:t> with </a:t>
            </a:r>
            <a:r>
              <a:rPr lang="it-IT" dirty="0" err="1"/>
              <a:t>decreasing</a:t>
            </a:r>
            <a:r>
              <a:rPr lang="it-IT" dirty="0"/>
              <a:t> </a:t>
            </a:r>
            <a:r>
              <a:rPr lang="it-IT" dirty="0" err="1"/>
              <a:t>dimensionality</a:t>
            </a:r>
            <a:r>
              <a:rPr lang="it-IT" dirty="0"/>
              <a:t>, the last one with 6 </a:t>
            </a:r>
            <a:r>
              <a:rPr lang="it-IT" dirty="0" err="1"/>
              <a:t>units</a:t>
            </a:r>
            <a:r>
              <a:rPr lang="it-IT" dirty="0"/>
              <a:t> </a:t>
            </a:r>
            <a:r>
              <a:rPr lang="it-IT" dirty="0" err="1"/>
              <a:t>corresponding</a:t>
            </a:r>
            <a:r>
              <a:rPr lang="it-IT" dirty="0"/>
              <a:t> to the </a:t>
            </a:r>
            <a:r>
              <a:rPr lang="it-IT" dirty="0" err="1"/>
              <a:t>number</a:t>
            </a:r>
            <a:r>
              <a:rPr lang="it-IT" dirty="0"/>
              <a:t> of target classes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activated</a:t>
            </a:r>
            <a:r>
              <a:rPr lang="it-IT" dirty="0"/>
              <a:t> with a </a:t>
            </a:r>
            <a:r>
              <a:rPr lang="it-IT" dirty="0" err="1"/>
              <a:t>softmax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. The first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 include L2 </a:t>
            </a:r>
            <a:r>
              <a:rPr lang="it-IT" dirty="0" err="1"/>
              <a:t>regularization</a:t>
            </a:r>
            <a:r>
              <a:rPr lang="it-IT" dirty="0"/>
              <a:t> to control the weights </a:t>
            </a:r>
            <a:r>
              <a:rPr lang="it-IT" dirty="0" err="1"/>
              <a:t>magnitude</a:t>
            </a:r>
            <a:r>
              <a:rPr lang="it-IT" dirty="0"/>
              <a:t> and </a:t>
            </a:r>
            <a:r>
              <a:rPr lang="it-IT" dirty="0" err="1"/>
              <a:t>avoid</a:t>
            </a:r>
            <a:r>
              <a:rPr lang="it-IT" dirty="0"/>
              <a:t> </a:t>
            </a:r>
            <a:r>
              <a:rPr lang="it-IT" dirty="0" err="1"/>
              <a:t>overfitting</a:t>
            </a:r>
            <a:r>
              <a:rPr lang="it-IT" dirty="0"/>
              <a:t>. </a:t>
            </a:r>
          </a:p>
          <a:p>
            <a:r>
              <a:rPr lang="it-IT" dirty="0" err="1"/>
              <a:t>As</a:t>
            </a:r>
            <a:r>
              <a:rPr lang="it-IT" dirty="0"/>
              <a:t> in </a:t>
            </a:r>
            <a:r>
              <a:rPr lang="it-IT" dirty="0" err="1"/>
              <a:t>every</a:t>
            </a:r>
            <a:r>
              <a:rPr lang="it-IT" dirty="0"/>
              <a:t> model, </a:t>
            </a:r>
            <a:r>
              <a:rPr lang="it-IT" dirty="0" err="1"/>
              <a:t>Early</a:t>
            </a:r>
            <a:r>
              <a:rPr lang="it-IT" dirty="0"/>
              <a:t> </a:t>
            </a:r>
            <a:r>
              <a:rPr lang="it-IT" dirty="0" err="1"/>
              <a:t>stopping</a:t>
            </a:r>
            <a:r>
              <a:rPr lang="it-IT" dirty="0"/>
              <a:t> and Model checkpoint are </a:t>
            </a:r>
            <a:r>
              <a:rPr lang="it-IT" dirty="0" err="1"/>
              <a:t>applied</a:t>
            </a:r>
            <a:r>
              <a:rPr lang="it-IT" dirty="0"/>
              <a:t>. </a:t>
            </a:r>
            <a:r>
              <a:rPr lang="it-IT" dirty="0" err="1"/>
              <a:t>Early</a:t>
            </a:r>
            <a:r>
              <a:rPr lang="it-IT" dirty="0"/>
              <a:t> </a:t>
            </a:r>
            <a:r>
              <a:rPr lang="it-IT" dirty="0" err="1"/>
              <a:t>stopping</a:t>
            </a:r>
            <a:r>
              <a:rPr lang="it-IT" dirty="0"/>
              <a:t> to </a:t>
            </a:r>
            <a:r>
              <a:rPr lang="it-IT" dirty="0" err="1"/>
              <a:t>prevent</a:t>
            </a:r>
            <a:r>
              <a:rPr lang="it-IT" dirty="0"/>
              <a:t> </a:t>
            </a:r>
            <a:r>
              <a:rPr lang="it-IT" dirty="0" err="1"/>
              <a:t>overfitting</a:t>
            </a:r>
            <a:r>
              <a:rPr lang="it-IT" dirty="0"/>
              <a:t> and </a:t>
            </a:r>
            <a:r>
              <a:rPr lang="it-IT" dirty="0" err="1"/>
              <a:t>avoid</a:t>
            </a:r>
            <a:r>
              <a:rPr lang="it-IT" dirty="0"/>
              <a:t> intense use of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resources</a:t>
            </a:r>
            <a:r>
              <a:rPr lang="it-IT" dirty="0"/>
              <a:t> and Model checkpoint to </a:t>
            </a:r>
            <a:r>
              <a:rPr lang="it-IT" dirty="0" err="1"/>
              <a:t>save</a:t>
            </a:r>
            <a:r>
              <a:rPr lang="it-IT" dirty="0"/>
              <a:t> the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epoch</a:t>
            </a:r>
            <a:r>
              <a:rPr lang="it-IT" dirty="0"/>
              <a:t> the </a:t>
            </a:r>
            <a:r>
              <a:rPr lang="it-IT" dirty="0" err="1"/>
              <a:t>modelthat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the </a:t>
            </a:r>
            <a:r>
              <a:rPr lang="it-IT" dirty="0" err="1"/>
              <a:t>lowest</a:t>
            </a:r>
            <a:r>
              <a:rPr lang="it-IT" dirty="0"/>
              <a:t> </a:t>
            </a:r>
            <a:r>
              <a:rPr lang="it-IT" dirty="0" err="1"/>
              <a:t>validation</a:t>
            </a:r>
            <a:r>
              <a:rPr lang="it-IT" dirty="0"/>
              <a:t> </a:t>
            </a:r>
            <a:r>
              <a:rPr lang="it-IT" dirty="0" err="1"/>
              <a:t>loss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749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After </a:t>
            </a:r>
            <a:r>
              <a:rPr lang="en-GB" dirty="0" err="1"/>
              <a:t>analyzing</a:t>
            </a:r>
            <a:r>
              <a:rPr lang="en-GB" dirty="0"/>
              <a:t> which modality fitted best in our research scope, we implemented a spiking neural network to model skeleton data, leveraging its event driven processing to capture temporal patterns with high precision and efficiency. </a:t>
            </a:r>
            <a:r>
              <a:rPr lang="it-IT" dirty="0"/>
              <a:t>The model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loop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iteratively</a:t>
            </a:r>
            <a:r>
              <a:rPr lang="it-IT" dirty="0"/>
              <a:t> </a:t>
            </a:r>
            <a:r>
              <a:rPr lang="it-IT" dirty="0" err="1"/>
              <a:t>scans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time step: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 </a:t>
            </a:r>
            <a:r>
              <a:rPr lang="it-IT" dirty="0" err="1"/>
              <a:t>process</a:t>
            </a:r>
            <a:r>
              <a:rPr lang="it-IT" dirty="0"/>
              <a:t> </a:t>
            </a:r>
            <a:r>
              <a:rPr lang="it-IT" dirty="0" err="1"/>
              <a:t>sequentially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time step. The 42-dimensional input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projected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dense </a:t>
            </a:r>
            <a:r>
              <a:rPr lang="it-IT" dirty="0" err="1"/>
              <a:t>layer</a:t>
            </a:r>
            <a:r>
              <a:rPr lang="it-IT" dirty="0"/>
              <a:t> with 64 output </a:t>
            </a:r>
            <a:r>
              <a:rPr lang="it-IT" dirty="0" err="1"/>
              <a:t>units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are </a:t>
            </a:r>
            <a:r>
              <a:rPr lang="it-IT" dirty="0" err="1"/>
              <a:t>gathered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time </a:t>
            </a:r>
            <a:r>
              <a:rPr lang="it-IT" dirty="0" err="1"/>
              <a:t>producing</a:t>
            </a:r>
            <a:r>
              <a:rPr lang="it-IT" dirty="0"/>
              <a:t> a </a:t>
            </a:r>
            <a:r>
              <a:rPr lang="it-IT" dirty="0" err="1"/>
              <a:t>tensor</a:t>
            </a:r>
            <a:r>
              <a:rPr lang="it-IT" dirty="0"/>
              <a:t> of </a:t>
            </a:r>
            <a:r>
              <a:rPr lang="it-IT" dirty="0" err="1"/>
              <a:t>shape</a:t>
            </a:r>
            <a:r>
              <a:rPr lang="it-IT" dirty="0"/>
              <a:t> (100,64). A feature </a:t>
            </a:r>
            <a:r>
              <a:rPr lang="it-IT" dirty="0" err="1"/>
              <a:t>vector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extracted</a:t>
            </a:r>
            <a:r>
              <a:rPr lang="it-IT" dirty="0"/>
              <a:t> by </a:t>
            </a:r>
            <a:r>
              <a:rPr lang="it-IT" dirty="0" err="1"/>
              <a:t>summing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tensor</a:t>
            </a:r>
            <a:r>
              <a:rPr lang="it-IT" dirty="0"/>
              <a:t> </a:t>
            </a:r>
            <a:r>
              <a:rPr lang="it-IT" dirty="0" err="1"/>
              <a:t>along</a:t>
            </a:r>
            <a:r>
              <a:rPr lang="it-IT" dirty="0"/>
              <a:t> the time step </a:t>
            </a:r>
            <a:r>
              <a:rPr lang="it-IT" dirty="0" err="1"/>
              <a:t>dimension</a:t>
            </a:r>
            <a:r>
              <a:rPr lang="it-IT" dirty="0"/>
              <a:t> (1° </a:t>
            </a:r>
            <a:r>
              <a:rPr lang="it-IT" dirty="0" err="1"/>
              <a:t>axis</a:t>
            </a:r>
            <a:r>
              <a:rPr lang="it-IT" dirty="0"/>
              <a:t>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followed</a:t>
            </a:r>
            <a:r>
              <a:rPr lang="it-IT" dirty="0"/>
              <a:t> by a LIF </a:t>
            </a:r>
            <a:r>
              <a:rPr lang="it-IT" dirty="0" err="1"/>
              <a:t>layer</a:t>
            </a:r>
            <a:r>
              <a:rPr lang="it-IT" dirty="0"/>
              <a:t>, </a:t>
            </a:r>
            <a:r>
              <a:rPr lang="it-IT" dirty="0" err="1"/>
              <a:t>whose</a:t>
            </a:r>
            <a:r>
              <a:rPr lang="it-IT" dirty="0"/>
              <a:t> </a:t>
            </a:r>
            <a:r>
              <a:rPr lang="it-IT" dirty="0" err="1"/>
              <a:t>resulting</a:t>
            </a:r>
            <a:r>
              <a:rPr lang="it-IT" dirty="0"/>
              <a:t> spikes are </a:t>
            </a:r>
            <a:r>
              <a:rPr lang="it-IT" dirty="0" err="1"/>
              <a:t>passed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a </a:t>
            </a:r>
            <a:r>
              <a:rPr lang="it-IT" dirty="0" err="1"/>
              <a:t>final</a:t>
            </a:r>
            <a:r>
              <a:rPr lang="it-IT" dirty="0"/>
              <a:t> dense </a:t>
            </a:r>
            <a:r>
              <a:rPr lang="it-IT" dirty="0" err="1"/>
              <a:t>layer</a:t>
            </a:r>
            <a:r>
              <a:rPr lang="it-IT" dirty="0"/>
              <a:t> and </a:t>
            </a:r>
            <a:r>
              <a:rPr lang="it-IT" dirty="0" err="1"/>
              <a:t>another</a:t>
            </a:r>
            <a:r>
              <a:rPr lang="it-IT" dirty="0"/>
              <a:t> LIF </a:t>
            </a:r>
            <a:r>
              <a:rPr lang="it-IT" dirty="0" err="1"/>
              <a:t>layer</a:t>
            </a:r>
            <a:r>
              <a:rPr lang="it-IT" dirty="0"/>
              <a:t> to generate the output spikes. </a:t>
            </a:r>
            <a:r>
              <a:rPr lang="it-IT" dirty="0" err="1"/>
              <a:t>These</a:t>
            </a:r>
            <a:r>
              <a:rPr lang="it-IT" dirty="0"/>
              <a:t> are </a:t>
            </a:r>
            <a:r>
              <a:rPr lang="it-IT" dirty="0" err="1"/>
              <a:t>accumulated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(100,6) </a:t>
            </a:r>
            <a:r>
              <a:rPr lang="it-IT" dirty="0" err="1"/>
              <a:t>tensor</a:t>
            </a:r>
            <a:r>
              <a:rPr lang="it-IT" dirty="0"/>
              <a:t> for </a:t>
            </a:r>
            <a:r>
              <a:rPr lang="it-IT" dirty="0" err="1"/>
              <a:t>classification</a:t>
            </a:r>
            <a:r>
              <a:rPr lang="it-IT" dirty="0"/>
              <a:t>. </a:t>
            </a:r>
          </a:p>
          <a:p>
            <a:r>
              <a:rPr lang="it-IT" dirty="0"/>
              <a:t>Output spikes are </a:t>
            </a:r>
            <a:r>
              <a:rPr lang="it-IT" dirty="0" err="1"/>
              <a:t>accumulated</a:t>
            </a:r>
            <a:r>
              <a:rPr lang="it-IT" dirty="0"/>
              <a:t> and the </a:t>
            </a:r>
            <a:r>
              <a:rPr lang="it-IT" dirty="0" err="1"/>
              <a:t>loss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computed</a:t>
            </a:r>
            <a:r>
              <a:rPr lang="it-IT" dirty="0"/>
              <a:t> with a Cross </a:t>
            </a:r>
            <a:r>
              <a:rPr lang="it-IT" dirty="0" err="1"/>
              <a:t>entropy</a:t>
            </a:r>
            <a:r>
              <a:rPr lang="it-IT" dirty="0"/>
              <a:t> spike </a:t>
            </a:r>
            <a:r>
              <a:rPr lang="it-IT" dirty="0" err="1"/>
              <a:t>count</a:t>
            </a:r>
            <a:r>
              <a:rPr lang="it-IT" dirty="0"/>
              <a:t> </a:t>
            </a:r>
            <a:r>
              <a:rPr lang="it-IT" dirty="0" err="1"/>
              <a:t>loss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BE888-C68D-44AB-86E2-BAB70E4C2ED1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042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112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703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399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30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257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69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63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4806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727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558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8755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0334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60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81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7644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4677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8FDC9-BB5B-4CDD-B879-94D5260FDE47}" type="datetimeFigureOut">
              <a:rPr lang="it-IT" smtClean="0"/>
              <a:t>07/05/2026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7DF6A27-15D3-4B52-A6F8-7DCD9C6174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802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3B252F-DD2B-87B7-C4CE-1C619F84F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245" y="1637878"/>
            <a:ext cx="6943758" cy="2412955"/>
          </a:xfrm>
        </p:spPr>
        <p:txBody>
          <a:bodyPr/>
          <a:lstStyle/>
          <a:p>
            <a:r>
              <a:rPr lang="it-IT" sz="3600" dirty="0"/>
              <a:t>EFFICIENT GAIT CLASSIFICATION USING SKELETON AND PRESSURE DATA: DEEP AND SPIKING NEURAL NETWORK APPROACHES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8D4E162-B426-2D94-9DE1-DEAF320216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EDUARDO DAVID LOTTO, DOMENICO PLANTAMURA</a:t>
            </a:r>
          </a:p>
        </p:txBody>
      </p:sp>
    </p:spTree>
    <p:extLst>
      <p:ext uri="{BB962C8B-B14F-4D97-AF65-F5344CB8AC3E}">
        <p14:creationId xmlns:p14="http://schemas.microsoft.com/office/powerpoint/2010/main" val="421868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5B55DB-8860-AA8F-177A-B2CFC2ECA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RESEARCH OBJECTIVE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AE9C94-EA75-5E2F-8A6A-0625BC73F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Classify six types of gait, one normal and five pathological (lurching, stiff-legged, antalgic, Trendelenburg, steppage)</a:t>
            </a:r>
          </a:p>
          <a:p>
            <a:endParaRPr lang="en-US" dirty="0"/>
          </a:p>
          <a:p>
            <a:r>
              <a:rPr lang="it-IT" dirty="0"/>
              <a:t>Balance </a:t>
            </a:r>
            <a:r>
              <a:rPr lang="it-IT" dirty="0" err="1"/>
              <a:t>classification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and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endParaRPr lang="it-IT" dirty="0"/>
          </a:p>
          <a:p>
            <a:endParaRPr lang="en-US" dirty="0"/>
          </a:p>
          <a:p>
            <a:r>
              <a:rPr lang="en-US" dirty="0"/>
              <a:t>3D Skeleton data and Foot Pressure data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4 models:</a:t>
            </a:r>
          </a:p>
          <a:p>
            <a:pPr lvl="1"/>
            <a:r>
              <a:rPr lang="it-IT" dirty="0"/>
              <a:t>GRU-</a:t>
            </a:r>
            <a:r>
              <a:rPr lang="it-IT" dirty="0" err="1"/>
              <a:t>based</a:t>
            </a:r>
            <a:r>
              <a:rPr lang="it-IT" dirty="0"/>
              <a:t> model </a:t>
            </a:r>
            <a:r>
              <a:rPr lang="it-IT" dirty="0" err="1"/>
              <a:t>fed</a:t>
            </a:r>
            <a:r>
              <a:rPr lang="it-IT" dirty="0"/>
              <a:t> with skeleton data (</a:t>
            </a:r>
            <a:r>
              <a:rPr lang="it-IT" b="1" dirty="0" err="1"/>
              <a:t>SkGRU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CNN-</a:t>
            </a:r>
            <a:r>
              <a:rPr lang="it-IT" dirty="0" err="1"/>
              <a:t>based</a:t>
            </a:r>
            <a:r>
              <a:rPr lang="it-IT" dirty="0"/>
              <a:t> model </a:t>
            </a:r>
            <a:r>
              <a:rPr lang="it-IT" dirty="0" err="1"/>
              <a:t>fed</a:t>
            </a:r>
            <a:r>
              <a:rPr lang="it-IT" dirty="0"/>
              <a:t> with foot pressure data (</a:t>
            </a:r>
            <a:r>
              <a:rPr lang="it-IT" b="1" dirty="0" err="1"/>
              <a:t>PrCNN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Hybrid</a:t>
            </a:r>
            <a:r>
              <a:rPr lang="it-IT" dirty="0"/>
              <a:t> model </a:t>
            </a:r>
            <a:r>
              <a:rPr lang="it-IT" dirty="0" err="1"/>
              <a:t>combining</a:t>
            </a:r>
            <a:r>
              <a:rPr lang="it-IT" dirty="0"/>
              <a:t> features </a:t>
            </a:r>
            <a:r>
              <a:rPr lang="it-IT" dirty="0" err="1"/>
              <a:t>extracted</a:t>
            </a:r>
            <a:r>
              <a:rPr lang="it-IT" dirty="0"/>
              <a:t> from </a:t>
            </a:r>
            <a:r>
              <a:rPr lang="it-IT" dirty="0" err="1"/>
              <a:t>SkGRU</a:t>
            </a:r>
            <a:r>
              <a:rPr lang="it-IT" dirty="0"/>
              <a:t> and </a:t>
            </a:r>
            <a:r>
              <a:rPr lang="it-IT" dirty="0" err="1"/>
              <a:t>PrCNN</a:t>
            </a:r>
            <a:r>
              <a:rPr lang="it-IT" dirty="0"/>
              <a:t> (</a:t>
            </a:r>
            <a:r>
              <a:rPr lang="it-IT" b="1" dirty="0" err="1"/>
              <a:t>HyM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Spiking</a:t>
            </a:r>
            <a:r>
              <a:rPr lang="it-IT" dirty="0"/>
              <a:t> </a:t>
            </a:r>
            <a:r>
              <a:rPr lang="it-IT" dirty="0" err="1"/>
              <a:t>Neural</a:t>
            </a:r>
            <a:r>
              <a:rPr lang="it-IT" dirty="0"/>
              <a:t> Network </a:t>
            </a:r>
            <a:r>
              <a:rPr lang="it-IT" dirty="0" err="1"/>
              <a:t>fed</a:t>
            </a:r>
            <a:r>
              <a:rPr lang="it-IT" dirty="0"/>
              <a:t> with skeleton data (</a:t>
            </a:r>
            <a:r>
              <a:rPr lang="it-IT" b="1" dirty="0" err="1"/>
              <a:t>SkSNN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8150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E90ED-57F2-D839-957F-1655797D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PROCESSING PIPELINE</a:t>
            </a:r>
          </a:p>
        </p:txBody>
      </p:sp>
      <p:pic>
        <p:nvPicPr>
          <p:cNvPr id="5" name="Segnaposto contenuto 4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ACD20A7E-92F1-0336-BD1B-C04920AE7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23" y="2474674"/>
            <a:ext cx="8348489" cy="2226568"/>
          </a:xfrm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E73D5CC-9831-F1C3-29FB-689B7EF8ED93}"/>
              </a:ext>
            </a:extLst>
          </p:cNvPr>
          <p:cNvSpPr/>
          <p:nvPr/>
        </p:nvSpPr>
        <p:spPr>
          <a:xfrm>
            <a:off x="801423" y="5958971"/>
            <a:ext cx="3819738" cy="28942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i="1" dirty="0">
              <a:solidFill>
                <a:schemeClr val="tx1"/>
              </a:solidFill>
            </a:endParaRPr>
          </a:p>
          <a:p>
            <a:pPr algn="ctr"/>
            <a:r>
              <a:rPr lang="it-IT" sz="1200" i="1" dirty="0" err="1">
                <a:solidFill>
                  <a:schemeClr val="tx1"/>
                </a:solidFill>
              </a:rPr>
              <a:t>SkSNN</a:t>
            </a:r>
            <a:r>
              <a:rPr lang="it-IT" sz="1200" i="1" dirty="0">
                <a:solidFill>
                  <a:schemeClr val="tx1"/>
                </a:solidFill>
              </a:rPr>
              <a:t> </a:t>
            </a:r>
            <a:r>
              <a:rPr lang="it-IT" sz="1200" i="1" dirty="0" err="1">
                <a:solidFill>
                  <a:schemeClr val="tx1"/>
                </a:solidFill>
              </a:rPr>
              <a:t>lies</a:t>
            </a:r>
            <a:r>
              <a:rPr lang="it-IT" sz="1200" i="1" dirty="0">
                <a:solidFill>
                  <a:schemeClr val="tx1"/>
                </a:solidFill>
              </a:rPr>
              <a:t> </a:t>
            </a:r>
            <a:r>
              <a:rPr lang="it-IT" sz="1200" i="1" dirty="0" err="1">
                <a:solidFill>
                  <a:schemeClr val="tx1"/>
                </a:solidFill>
              </a:rPr>
              <a:t>outside</a:t>
            </a:r>
            <a:r>
              <a:rPr lang="it-IT" sz="1200" i="1" dirty="0">
                <a:solidFill>
                  <a:schemeClr val="tx1"/>
                </a:solidFill>
              </a:rPr>
              <a:t> the </a:t>
            </a:r>
            <a:r>
              <a:rPr lang="it-IT" sz="1200" i="1" dirty="0" err="1">
                <a:solidFill>
                  <a:schemeClr val="tx1"/>
                </a:solidFill>
              </a:rPr>
              <a:t>main</a:t>
            </a:r>
            <a:r>
              <a:rPr lang="it-IT" sz="1200" i="1" dirty="0">
                <a:solidFill>
                  <a:schemeClr val="tx1"/>
                </a:solidFill>
              </a:rPr>
              <a:t> processing pipeline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146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15">
            <a:extLst>
              <a:ext uri="{FF2B5EF4-FFF2-40B4-BE49-F238E27FC236}">
                <a16:creationId xmlns:a16="http://schemas.microsoft.com/office/drawing/2014/main" id="{0884F175-9D23-496E-80AC-F3D2FD541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D4B7B8-5AFE-4B32-A805-72EC571E6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57D13B2-7A74-4788-8689-5EDB2DA86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66964837-B2CC-483D-BEDA-4BB1901BC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77D4E216-8B6C-4A3B-AF75-3016320F6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20">
              <a:extLst>
                <a:ext uri="{FF2B5EF4-FFF2-40B4-BE49-F238E27FC236}">
                  <a16:creationId xmlns:a16="http://schemas.microsoft.com/office/drawing/2014/main" id="{CDD4EA12-82D2-47D7-8742-8F4746AA6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115B7F7E-4C23-429B-A947-A5B436DB2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A6B03A29-0A21-40D4-87E4-3C41D6F54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6C871F60-4E5A-449A-B6D8-1F58C12E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5" name="Isosceles Triangle 24">
              <a:extLst>
                <a:ext uri="{FF2B5EF4-FFF2-40B4-BE49-F238E27FC236}">
                  <a16:creationId xmlns:a16="http://schemas.microsoft.com/office/drawing/2014/main" id="{3182795B-2BFA-4D7B-BE85-701A73E2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6" name="Isosceles Triangle 25">
              <a:extLst>
                <a:ext uri="{FF2B5EF4-FFF2-40B4-BE49-F238E27FC236}">
                  <a16:creationId xmlns:a16="http://schemas.microsoft.com/office/drawing/2014/main" id="{810B9E5C-2AE2-4B4E-916F-F954F2AA8A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50DD1F14-9FCF-2AE0-9E42-A5EB67E7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959" y="609600"/>
            <a:ext cx="3513043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DATA COLLECTION</a:t>
            </a:r>
          </a:p>
        </p:txBody>
      </p:sp>
      <p:pic>
        <p:nvPicPr>
          <p:cNvPr id="9" name="Segnaposto contenuto 8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038DE9AE-D1C1-24AE-0E9E-3A82A8ACBA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1"/>
          <a:stretch>
            <a:fillRect/>
          </a:stretch>
        </p:blipFill>
        <p:spPr>
          <a:xfrm>
            <a:off x="918677" y="609600"/>
            <a:ext cx="4533764" cy="1792457"/>
          </a:xfrm>
          <a:prstGeom prst="rect">
            <a:avLst/>
          </a:prstGeom>
        </p:spPr>
      </p:pic>
      <p:sp>
        <p:nvSpPr>
          <p:cNvPr id="37" name="Content Placeholder 12">
            <a:extLst>
              <a:ext uri="{FF2B5EF4-FFF2-40B4-BE49-F238E27FC236}">
                <a16:creationId xmlns:a16="http://schemas.microsoft.com/office/drawing/2014/main" id="{9E1553BD-9A86-4B0A-9EDA-F5100D146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0960" y="2160589"/>
            <a:ext cx="3513042" cy="388077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dirty="0"/>
              <a:t>12 subjects x 6 gaits x 20 trials </a:t>
            </a:r>
            <a:r>
              <a:rPr lang="en-US" dirty="0"/>
              <a:t>for both skeleton and foot pressure</a:t>
            </a:r>
          </a:p>
          <a:p>
            <a:endParaRPr lang="en-US" dirty="0"/>
          </a:p>
          <a:p>
            <a:r>
              <a:rPr lang="en-US" b="1" dirty="0"/>
              <a:t>Skeleton</a:t>
            </a:r>
            <a:r>
              <a:rPr lang="en-US" dirty="0"/>
              <a:t>: 3D coordinates from 33 joints collected through a single depth camera</a:t>
            </a:r>
          </a:p>
          <a:p>
            <a:endParaRPr lang="en-US" dirty="0"/>
          </a:p>
          <a:p>
            <a:r>
              <a:rPr lang="en-US" b="1" dirty="0"/>
              <a:t>Foot Pressure</a:t>
            </a:r>
            <a:r>
              <a:rPr lang="en-US" dirty="0"/>
              <a:t>: 1280 x 480 mm sized pressure plate (GW1100)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Segnaposto contenuto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6325359-DCA2-2D08-CC7A-235F3E245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96" y="2732540"/>
            <a:ext cx="4187265" cy="359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9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2B225-C36B-DDA5-5400-894F576D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58552" cy="658761"/>
          </a:xfrm>
        </p:spPr>
        <p:txBody>
          <a:bodyPr>
            <a:normAutofit/>
          </a:bodyPr>
          <a:lstStyle/>
          <a:p>
            <a:r>
              <a:rPr lang="it-IT" dirty="0"/>
              <a:t>DATA NORMALIZATION AND AUGMENTATION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5">
                <a:extLst>
                  <a:ext uri="{FF2B5EF4-FFF2-40B4-BE49-F238E27FC236}">
                    <a16:creationId xmlns:a16="http://schemas.microsoft.com/office/drawing/2014/main" id="{8101E328-6035-C20C-CAFD-10D555CA387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77334" y="5422693"/>
                <a:ext cx="4184034" cy="73551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it-IT" dirty="0"/>
                  <a:t>Each </a:t>
                </a:r>
                <a:r>
                  <a:rPr lang="it-IT" dirty="0" err="1"/>
                  <a:t>value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divided</a:t>
                </a:r>
                <a:r>
                  <a:rPr lang="it-IT" dirty="0"/>
                  <a:t> by 100 (maximum </a:t>
                </a:r>
                <a:r>
                  <a:rPr lang="it-IT" dirty="0" err="1"/>
                  <a:t>measurable</a:t>
                </a:r>
                <a:r>
                  <a:rPr lang="it-IT" dirty="0"/>
                  <a:t> pressure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  <a:endParaRPr lang="it-IT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𝑛𝑜𝑟𝑚𝑎𝑙𝑖𝑧𝑒𝑑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𝑟𝑎𝑤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/100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Segnaposto contenuto 5">
                <a:extLst>
                  <a:ext uri="{FF2B5EF4-FFF2-40B4-BE49-F238E27FC236}">
                    <a16:creationId xmlns:a16="http://schemas.microsoft.com/office/drawing/2014/main" id="{8101E328-6035-C20C-CAFD-10D555CA3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77334" y="5422693"/>
                <a:ext cx="4184034" cy="735511"/>
              </a:xfrm>
              <a:blipFill>
                <a:blip r:embed="rId3"/>
                <a:stretch>
                  <a:fillRect t="-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E7264C42-B4D5-41C6-E115-70C79D782C44}"/>
              </a:ext>
            </a:extLst>
          </p:cNvPr>
          <p:cNvSpPr txBox="1"/>
          <p:nvPr/>
        </p:nvSpPr>
        <p:spPr>
          <a:xfrm>
            <a:off x="445671" y="1777489"/>
            <a:ext cx="2818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chemeClr val="accent2">
                    <a:lumMod val="75000"/>
                  </a:schemeClr>
                </a:solidFill>
              </a:rPr>
              <a:t>3D SKELETON DATA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EAEB332-9D81-1A24-7D8C-CA4926E1BD06}"/>
              </a:ext>
            </a:extLst>
          </p:cNvPr>
          <p:cNvSpPr txBox="1"/>
          <p:nvPr/>
        </p:nvSpPr>
        <p:spPr>
          <a:xfrm>
            <a:off x="677334" y="4960321"/>
            <a:ext cx="2487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FOOT PRESSURE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egnaposto contenuto 5">
                <a:extLst>
                  <a:ext uri="{FF2B5EF4-FFF2-40B4-BE49-F238E27FC236}">
                    <a16:creationId xmlns:a16="http://schemas.microsoft.com/office/drawing/2014/main" id="{59AB6A0B-06B5-2A94-779A-0F70DFBDE1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77334" y="2338683"/>
                <a:ext cx="4203326" cy="246055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it-IT" dirty="0" err="1">
                    <a:solidFill>
                      <a:srgbClr val="FF0000"/>
                    </a:solidFill>
                  </a:rPr>
                  <a:t>Pelvis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 err="1">
                    <a:solidFill>
                      <a:srgbClr val="FF0000"/>
                    </a:solidFill>
                  </a:rPr>
                  <a:t>Centering</a:t>
                </a:r>
                <a:r>
                  <a:rPr lang="it-IT" dirty="0"/>
                  <a:t>: </a:t>
                </a:r>
                <a:r>
                  <a:rPr lang="it-IT" dirty="0" err="1"/>
                  <a:t>each</a:t>
                </a:r>
                <a:r>
                  <a:rPr lang="it-IT" dirty="0"/>
                  <a:t> joint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transformed</a:t>
                </a:r>
                <a:r>
                  <a:rPr lang="it-IT" dirty="0"/>
                  <a:t> </a:t>
                </a:r>
                <a:r>
                  <a:rPr lang="it-IT" dirty="0" err="1"/>
                  <a:t>into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by </a:t>
                </a:r>
                <a:r>
                  <a:rPr lang="it-IT" dirty="0" err="1"/>
                  <a:t>subtracting</a:t>
                </a:r>
                <a:r>
                  <a:rPr lang="it-IT" dirty="0"/>
                  <a:t> </a:t>
                </a:r>
                <a:r>
                  <a:rPr lang="it-IT" dirty="0" err="1"/>
                  <a:t>pelvis</a:t>
                </a:r>
                <a:r>
                  <a:rPr lang="it-IT" dirty="0"/>
                  <a:t> </a:t>
                </a:r>
                <a:r>
                  <a:rPr lang="it-IT" dirty="0" err="1"/>
                  <a:t>coordinates</a:t>
                </a:r>
                <a:r>
                  <a:rPr lang="it-IT" dirty="0"/>
                  <a:t> (so </a:t>
                </a:r>
                <a:r>
                  <a:rPr lang="it-IT" dirty="0" err="1"/>
                  <a:t>pelvis</a:t>
                </a:r>
                <a:r>
                  <a:rPr lang="it-IT" dirty="0"/>
                  <a:t> </a:t>
                </a:r>
                <a:r>
                  <a:rPr lang="it-IT" dirty="0" err="1"/>
                  <a:t>positioned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(0,0,0))</a:t>
                </a:r>
              </a:p>
              <a:p>
                <a:pPr lvl="1"/>
                <a:r>
                  <a:rPr lang="it-IT" dirty="0"/>
                  <a:t>Focus on relative joints position</a:t>
                </a:r>
              </a:p>
              <a:p>
                <a:pPr lvl="1"/>
                <a:r>
                  <a:rPr lang="it-IT" dirty="0"/>
                  <a:t>Frame-to-frame </a:t>
                </a:r>
                <a:r>
                  <a:rPr lang="it-IT" dirty="0" err="1"/>
                  <a:t>comparability</a:t>
                </a:r>
                <a:endParaRPr lang="it-IT" dirty="0"/>
              </a:p>
              <a:p>
                <a:r>
                  <a:rPr lang="it-IT" dirty="0">
                    <a:solidFill>
                      <a:srgbClr val="FF0000"/>
                    </a:solidFill>
                  </a:rPr>
                  <a:t>Hip Scaling</a:t>
                </a:r>
                <a:r>
                  <a:rPr lang="it-IT" dirty="0"/>
                  <a:t>: scale </a:t>
                </a:r>
                <a:r>
                  <a:rPr lang="it-IT" dirty="0" err="1"/>
                  <a:t>normalization</a:t>
                </a:r>
                <a:r>
                  <a:rPr lang="it-IT" dirty="0"/>
                  <a:t> </a:t>
                </a:r>
                <a:r>
                  <a:rPr lang="it-IT" dirty="0" err="1"/>
                  <a:t>using</a:t>
                </a:r>
                <a:r>
                  <a:rPr lang="it-IT" dirty="0"/>
                  <a:t> </a:t>
                </a:r>
                <a:r>
                  <a:rPr lang="it-IT" dirty="0" err="1"/>
                  <a:t>distance</a:t>
                </a:r>
                <a:r>
                  <a:rPr lang="it-IT" dirty="0"/>
                  <a:t> </a:t>
                </a:r>
                <a:r>
                  <a:rPr lang="it-IT" dirty="0" err="1"/>
                  <a:t>between</a:t>
                </a:r>
                <a:r>
                  <a:rPr lang="it-IT" dirty="0"/>
                  <a:t> </a:t>
                </a:r>
                <a:r>
                  <a:rPr lang="it-IT" dirty="0" err="1"/>
                  <a:t>hips</a:t>
                </a:r>
                <a:endParaRPr lang="it-IT" dirty="0"/>
              </a:p>
              <a:p>
                <a:pPr lvl="1"/>
                <a:r>
                  <a:rPr lang="it-IT" dirty="0"/>
                  <a:t>Compensate </a:t>
                </a:r>
                <a:r>
                  <a:rPr lang="it-IT" dirty="0" err="1"/>
                  <a:t>different</a:t>
                </a:r>
                <a:r>
                  <a:rPr lang="it-IT" dirty="0"/>
                  <a:t> body </a:t>
                </a:r>
                <a:r>
                  <a:rPr lang="it-IT" dirty="0" err="1"/>
                  <a:t>proportions</a:t>
                </a:r>
                <a:r>
                  <a:rPr lang="it-IT" dirty="0"/>
                  <a:t> and sizes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0" name="Segnaposto contenuto 5">
                <a:extLst>
                  <a:ext uri="{FF2B5EF4-FFF2-40B4-BE49-F238E27FC236}">
                    <a16:creationId xmlns:a16="http://schemas.microsoft.com/office/drawing/2014/main" id="{59AB6A0B-06B5-2A94-779A-0F70DFBDE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77334" y="2338683"/>
                <a:ext cx="4203326" cy="2460554"/>
              </a:xfrm>
              <a:blipFill>
                <a:blip r:embed="rId4"/>
                <a:stretch>
                  <a:fillRect t="-24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FE5C705D-52AF-2033-CC3C-43F48AC21F99}"/>
              </a:ext>
            </a:extLst>
          </p:cNvPr>
          <p:cNvSpPr txBox="1"/>
          <p:nvPr/>
        </p:nvSpPr>
        <p:spPr>
          <a:xfrm>
            <a:off x="5634999" y="1777489"/>
            <a:ext cx="2621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accent2">
                    <a:lumMod val="75000"/>
                  </a:schemeClr>
                </a:solidFill>
              </a:rPr>
              <a:t>DATA AUGMENTATION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C2FDA28-6C4D-1E8D-8677-3A9C34F2AD0D}"/>
              </a:ext>
            </a:extLst>
          </p:cNvPr>
          <p:cNvSpPr txBox="1">
            <a:spLocks/>
          </p:cNvSpPr>
          <p:nvPr/>
        </p:nvSpPr>
        <p:spPr>
          <a:xfrm>
            <a:off x="5634999" y="2338683"/>
            <a:ext cx="4203326" cy="1925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500" dirty="0"/>
              <a:t>Left-to-</a:t>
            </a:r>
            <a:r>
              <a:rPr lang="it-IT" sz="1500" dirty="0" err="1"/>
              <a:t>right</a:t>
            </a:r>
            <a:r>
              <a:rPr lang="it-IT" sz="1500" dirty="0"/>
              <a:t> </a:t>
            </a:r>
            <a:r>
              <a:rPr lang="it-IT" sz="1500" dirty="0" err="1"/>
              <a:t>flipping</a:t>
            </a:r>
            <a:endParaRPr lang="it-IT" dirty="0">
              <a:solidFill>
                <a:srgbClr val="FF0000"/>
              </a:solidFill>
            </a:endParaRPr>
          </a:p>
          <a:p>
            <a:r>
              <a:rPr lang="it-IT" sz="1500" dirty="0">
                <a:solidFill>
                  <a:srgbClr val="FF0000"/>
                </a:solidFill>
              </a:rPr>
              <a:t>Skeleton</a:t>
            </a:r>
            <a:r>
              <a:rPr lang="it-IT" sz="1500" dirty="0"/>
              <a:t>:</a:t>
            </a:r>
            <a:r>
              <a:rPr lang="it-IT" sz="1500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it-IT" sz="1500" dirty="0"/>
              <a:t>Random </a:t>
            </a:r>
            <a:r>
              <a:rPr lang="it-IT" sz="1500" dirty="0" err="1"/>
              <a:t>crop</a:t>
            </a:r>
            <a:endParaRPr lang="it-IT" sz="1500" dirty="0"/>
          </a:p>
          <a:p>
            <a:r>
              <a:rPr lang="it-IT" sz="1500" dirty="0">
                <a:solidFill>
                  <a:srgbClr val="FF0000"/>
                </a:solidFill>
              </a:rPr>
              <a:t>Foot pressure</a:t>
            </a:r>
            <a:r>
              <a:rPr lang="it-IT" sz="1500" dirty="0"/>
              <a:t>:</a:t>
            </a:r>
          </a:p>
          <a:p>
            <a:pPr lvl="1"/>
            <a:r>
              <a:rPr lang="it-IT" sz="1500" dirty="0" err="1"/>
              <a:t>Fixed</a:t>
            </a:r>
            <a:r>
              <a:rPr lang="it-IT" sz="1500" dirty="0"/>
              <a:t> 30° </a:t>
            </a:r>
            <a:r>
              <a:rPr lang="it-IT" sz="1500" dirty="0" err="1"/>
              <a:t>rotation</a:t>
            </a:r>
            <a:endParaRPr lang="it-IT" sz="1500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79EAD9A-2A67-981D-E383-E62FF743D418}"/>
              </a:ext>
            </a:extLst>
          </p:cNvPr>
          <p:cNvSpPr/>
          <p:nvPr/>
        </p:nvSpPr>
        <p:spPr>
          <a:xfrm>
            <a:off x="5634999" y="5329653"/>
            <a:ext cx="2902512" cy="62315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i="1" dirty="0">
              <a:solidFill>
                <a:schemeClr val="tx1"/>
              </a:solidFill>
            </a:endParaRPr>
          </a:p>
          <a:p>
            <a:pPr algn="ctr"/>
            <a:r>
              <a:rPr lang="it-IT" sz="1200" i="1" dirty="0" err="1">
                <a:solidFill>
                  <a:schemeClr val="tx1"/>
                </a:solidFill>
              </a:rPr>
              <a:t>SkGRU</a:t>
            </a:r>
            <a:r>
              <a:rPr lang="it-IT" sz="1200" i="1" dirty="0">
                <a:solidFill>
                  <a:schemeClr val="tx1"/>
                </a:solidFill>
              </a:rPr>
              <a:t>, </a:t>
            </a:r>
            <a:r>
              <a:rPr lang="it-IT" sz="1200" i="1" dirty="0" err="1">
                <a:solidFill>
                  <a:schemeClr val="tx1"/>
                </a:solidFill>
              </a:rPr>
              <a:t>PrCNN</a:t>
            </a:r>
            <a:r>
              <a:rPr lang="it-IT" sz="1200" i="1" dirty="0">
                <a:solidFill>
                  <a:schemeClr val="tx1"/>
                </a:solidFill>
              </a:rPr>
              <a:t> and </a:t>
            </a:r>
            <a:r>
              <a:rPr lang="it-IT" sz="1200" i="1" dirty="0" err="1">
                <a:solidFill>
                  <a:schemeClr val="tx1"/>
                </a:solidFill>
              </a:rPr>
              <a:t>SkSNN</a:t>
            </a:r>
            <a:r>
              <a:rPr lang="it-IT" sz="1200" i="1" dirty="0">
                <a:solidFill>
                  <a:schemeClr val="tx1"/>
                </a:solidFill>
              </a:rPr>
              <a:t> use L4SO-CV</a:t>
            </a:r>
          </a:p>
          <a:p>
            <a:pPr algn="ctr"/>
            <a:r>
              <a:rPr lang="it-IT" sz="1200" i="1" dirty="0" err="1">
                <a:solidFill>
                  <a:schemeClr val="tx1"/>
                </a:solidFill>
              </a:rPr>
              <a:t>HyM</a:t>
            </a:r>
            <a:r>
              <a:rPr lang="it-IT" sz="1200" i="1" dirty="0">
                <a:solidFill>
                  <a:schemeClr val="tx1"/>
                </a:solidFill>
              </a:rPr>
              <a:t> </a:t>
            </a:r>
            <a:r>
              <a:rPr lang="it-IT" sz="1200" i="1" dirty="0" err="1">
                <a:solidFill>
                  <a:schemeClr val="tx1"/>
                </a:solidFill>
              </a:rPr>
              <a:t>uses</a:t>
            </a:r>
            <a:r>
              <a:rPr lang="it-IT" sz="1200" i="1" dirty="0">
                <a:solidFill>
                  <a:schemeClr val="tx1"/>
                </a:solidFill>
              </a:rPr>
              <a:t> LOSO-CV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7308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CC2D225D-D3F0-D63E-0270-0DD472DCC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5" y="1282701"/>
            <a:ext cx="5096060" cy="4307148"/>
          </a:xfrm>
        </p:spPr>
        <p:txBody>
          <a:bodyPr anchor="ctr">
            <a:normAutofit/>
          </a:bodyPr>
          <a:lstStyle/>
          <a:p>
            <a:r>
              <a:rPr lang="it-IT" dirty="0"/>
              <a:t>MODELS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0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A121B806-5D69-1AB0-321D-E4B284E1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070878" cy="705853"/>
          </a:xfrm>
        </p:spPr>
        <p:txBody>
          <a:bodyPr>
            <a:normAutofit/>
          </a:bodyPr>
          <a:lstStyle/>
          <a:p>
            <a:r>
              <a:rPr lang="it-IT" sz="2800" dirty="0"/>
              <a:t>Skeleton-</a:t>
            </a:r>
            <a:r>
              <a:rPr lang="it-IT" sz="2800" dirty="0" err="1"/>
              <a:t>based</a:t>
            </a:r>
            <a:r>
              <a:rPr lang="it-IT" sz="2800" dirty="0"/>
              <a:t> single-</a:t>
            </a:r>
            <a:r>
              <a:rPr lang="it-IT" sz="2800" dirty="0" err="1"/>
              <a:t>modal</a:t>
            </a:r>
            <a:r>
              <a:rPr lang="it-IT" sz="2800" dirty="0"/>
              <a:t> GRU (</a:t>
            </a:r>
            <a:r>
              <a:rPr lang="it-IT" sz="2800" dirty="0" err="1"/>
              <a:t>SkGRU</a:t>
            </a:r>
            <a:r>
              <a:rPr lang="it-IT" sz="2800" dirty="0"/>
              <a:t>) encoder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47DFE5C0-4570-3704-8BCF-F35B8CFD1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880239"/>
            <a:ext cx="8926290" cy="524658"/>
          </a:xfrm>
        </p:spPr>
      </p:pic>
      <p:sp>
        <p:nvSpPr>
          <p:cNvPr id="12" name="Segnaposto contenuto 5">
            <a:extLst>
              <a:ext uri="{FF2B5EF4-FFF2-40B4-BE49-F238E27FC236}">
                <a16:creationId xmlns:a16="http://schemas.microsoft.com/office/drawing/2014/main" id="{BFDF3B08-A08E-6AAD-3B65-77A49ED09706}"/>
              </a:ext>
            </a:extLst>
          </p:cNvPr>
          <p:cNvSpPr txBox="1">
            <a:spLocks/>
          </p:cNvSpPr>
          <p:nvPr/>
        </p:nvSpPr>
        <p:spPr>
          <a:xfrm>
            <a:off x="677333" y="2969684"/>
            <a:ext cx="7040989" cy="2220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Input 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shape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it-IT" dirty="0"/>
              <a:t>(100, 42)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excluding</a:t>
            </a:r>
            <a:r>
              <a:rPr lang="it-IT" dirty="0"/>
              <a:t> face and </a:t>
            </a:r>
            <a:r>
              <a:rPr lang="it-IT" dirty="0" err="1"/>
              <a:t>arms</a:t>
            </a:r>
            <a:r>
              <a:rPr lang="it-IT" dirty="0"/>
              <a:t> joints</a:t>
            </a:r>
          </a:p>
          <a:p>
            <a:pPr lvl="1"/>
            <a:r>
              <a:rPr lang="it-IT" dirty="0"/>
              <a:t>(100, 27)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legs</a:t>
            </a:r>
            <a:endParaRPr lang="it-IT" dirty="0"/>
          </a:p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4 GRU 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layers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it-IT" dirty="0" err="1"/>
              <a:t>Capture</a:t>
            </a:r>
            <a:r>
              <a:rPr lang="it-IT" dirty="0"/>
              <a:t> long-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dependencies</a:t>
            </a:r>
            <a:r>
              <a:rPr lang="it-IT" dirty="0"/>
              <a:t> and mitigate </a:t>
            </a:r>
            <a:r>
              <a:rPr lang="it-IT" dirty="0" err="1"/>
              <a:t>vanishing</a:t>
            </a:r>
            <a:r>
              <a:rPr lang="it-IT" dirty="0"/>
              <a:t> </a:t>
            </a:r>
            <a:r>
              <a:rPr lang="it-IT" dirty="0" err="1"/>
              <a:t>problem</a:t>
            </a:r>
            <a:endParaRPr lang="it-IT" dirty="0"/>
          </a:p>
          <a:p>
            <a:pPr marL="0" indent="0">
              <a:buFont typeface="Wingdings 3" charset="2"/>
              <a:buNone/>
            </a:pPr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4893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AD17-9D8A-E100-AB40-EF1F89DC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01B37A78-311E-72C6-9B55-B812A01B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9702"/>
          </a:xfrm>
        </p:spPr>
        <p:txBody>
          <a:bodyPr>
            <a:normAutofit/>
          </a:bodyPr>
          <a:lstStyle/>
          <a:p>
            <a:r>
              <a:rPr lang="it-IT" sz="2800" dirty="0"/>
              <a:t>Pressure-</a:t>
            </a:r>
            <a:r>
              <a:rPr lang="it-IT" sz="2800" dirty="0" err="1"/>
              <a:t>based</a:t>
            </a:r>
            <a:r>
              <a:rPr lang="it-IT" sz="2800" dirty="0"/>
              <a:t> single-</a:t>
            </a:r>
            <a:r>
              <a:rPr lang="it-IT" sz="2800" dirty="0" err="1"/>
              <a:t>modal</a:t>
            </a:r>
            <a:r>
              <a:rPr lang="it-IT" sz="2800" dirty="0"/>
              <a:t> CNN (</a:t>
            </a:r>
            <a:r>
              <a:rPr lang="it-IT" sz="2800" dirty="0" err="1"/>
              <a:t>PrCNN</a:t>
            </a:r>
            <a:r>
              <a:rPr lang="it-IT" sz="2800" dirty="0"/>
              <a:t>) encoder</a:t>
            </a:r>
          </a:p>
        </p:txBody>
      </p:sp>
      <p:sp>
        <p:nvSpPr>
          <p:cNvPr id="17" name="Segnaposto contenuto 16">
            <a:extLst>
              <a:ext uri="{FF2B5EF4-FFF2-40B4-BE49-F238E27FC236}">
                <a16:creationId xmlns:a16="http://schemas.microsoft.com/office/drawing/2014/main" id="{E533E989-91EA-53CF-ECD9-DEB61440B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5779" y="3981814"/>
            <a:ext cx="4184035" cy="956563"/>
          </a:xfrm>
        </p:spPr>
        <p:txBody>
          <a:bodyPr>
            <a:normAutofit/>
          </a:bodyPr>
          <a:lstStyle/>
          <a:p>
            <a:r>
              <a:rPr lang="it-IT" dirty="0" err="1"/>
              <a:t>Increasing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channels</a:t>
            </a:r>
            <a:r>
              <a:rPr lang="it-IT" dirty="0"/>
              <a:t> to </a:t>
            </a:r>
            <a:r>
              <a:rPr lang="it-IT" b="1" dirty="0" err="1"/>
              <a:t>capture</a:t>
            </a:r>
            <a:r>
              <a:rPr lang="it-IT" dirty="0"/>
              <a:t> </a:t>
            </a:r>
            <a:r>
              <a:rPr lang="it-IT" dirty="0" err="1"/>
              <a:t>progressively</a:t>
            </a:r>
            <a:r>
              <a:rPr lang="it-IT" dirty="0"/>
              <a:t> </a:t>
            </a:r>
            <a:r>
              <a:rPr lang="it-IT" b="1" dirty="0"/>
              <a:t>high-</a:t>
            </a:r>
            <a:r>
              <a:rPr lang="it-IT" b="1" dirty="0" err="1"/>
              <a:t>level</a:t>
            </a:r>
            <a:r>
              <a:rPr lang="it-IT" b="1" dirty="0"/>
              <a:t> features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8" name="Segnaposto contenuto 17">
            <a:extLst>
              <a:ext uri="{FF2B5EF4-FFF2-40B4-BE49-F238E27FC236}">
                <a16:creationId xmlns:a16="http://schemas.microsoft.com/office/drawing/2014/main" id="{EFB576D7-6667-A729-7197-32063E210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8079" y="3987925"/>
            <a:ext cx="4184034" cy="651764"/>
          </a:xfrm>
        </p:spPr>
        <p:txBody>
          <a:bodyPr>
            <a:normAutofit/>
          </a:bodyPr>
          <a:lstStyle/>
          <a:p>
            <a:r>
              <a:rPr lang="it-IT" dirty="0" err="1"/>
              <a:t>Allows</a:t>
            </a:r>
            <a:r>
              <a:rPr lang="it-IT" dirty="0"/>
              <a:t> the network to focus in the </a:t>
            </a:r>
            <a:r>
              <a:rPr lang="it-IT" b="1" dirty="0" err="1"/>
              <a:t>most</a:t>
            </a:r>
            <a:r>
              <a:rPr lang="it-IT" b="1" dirty="0"/>
              <a:t> informative </a:t>
            </a:r>
            <a:r>
              <a:rPr lang="it-IT" b="1" dirty="0" err="1"/>
              <a:t>regions</a:t>
            </a:r>
            <a:endParaRPr lang="it-IT" b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B410217-07E7-8255-36CC-C71D3316F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0947"/>
            <a:ext cx="4369814" cy="49610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58076E4-BEDD-3E5B-6F79-EF7CB0ACD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368" y="3171882"/>
            <a:ext cx="4511457" cy="50517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5925EC4-0F02-CD24-A495-A1C418D77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870" y="1954533"/>
            <a:ext cx="9475596" cy="539702"/>
          </a:xfrm>
          <a:prstGeom prst="rect">
            <a:avLst/>
          </a:prstGeom>
        </p:spPr>
      </p:pic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49A9645-F893-A86A-3D7D-6E0018B474C5}"/>
              </a:ext>
            </a:extLst>
          </p:cNvPr>
          <p:cNvSpPr txBox="1"/>
          <p:nvPr/>
        </p:nvSpPr>
        <p:spPr>
          <a:xfrm>
            <a:off x="1222302" y="3612482"/>
            <a:ext cx="1925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Features 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block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8788E41B-6990-D227-24AC-390F4E25F2FF}"/>
              </a:ext>
            </a:extLst>
          </p:cNvPr>
          <p:cNvSpPr txBox="1"/>
          <p:nvPr/>
        </p:nvSpPr>
        <p:spPr>
          <a:xfrm>
            <a:off x="6198164" y="3612482"/>
            <a:ext cx="314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Focus 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block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57CBBF2-3B41-6940-675F-CC12C0833ED1}"/>
              </a:ext>
            </a:extLst>
          </p:cNvPr>
          <p:cNvSpPr txBox="1"/>
          <p:nvPr/>
        </p:nvSpPr>
        <p:spPr>
          <a:xfrm>
            <a:off x="677334" y="5196830"/>
            <a:ext cx="9348491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ReLU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activations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Dropout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(0.5) reduces reliance on specific neurons and encourages the network to learn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more robust representations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66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7A54A8-11C4-2CFF-2813-27E3C06A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Hybrid</a:t>
            </a:r>
            <a:r>
              <a:rPr lang="it-IT" dirty="0"/>
              <a:t> model (</a:t>
            </a:r>
            <a:r>
              <a:rPr lang="it-IT" dirty="0" err="1"/>
              <a:t>HyM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151968F-52CE-4AF0-28A8-4850723B73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4491790"/>
                <a:ext cx="8596668" cy="222656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it-IT" dirty="0">
                    <a:solidFill>
                      <a:schemeClr val="accent2">
                        <a:lumMod val="75000"/>
                      </a:schemeClr>
                    </a:solidFill>
                  </a:rPr>
                  <a:t>Multi-</a:t>
                </a:r>
                <a:r>
                  <a:rPr lang="it-IT" dirty="0" err="1">
                    <a:solidFill>
                      <a:schemeClr val="accent2">
                        <a:lumMod val="75000"/>
                      </a:schemeClr>
                    </a:solidFill>
                  </a:rPr>
                  <a:t>modal</a:t>
                </a:r>
                <a:r>
                  <a:rPr lang="it-IT" dirty="0">
                    <a:solidFill>
                      <a:schemeClr val="accent2">
                        <a:lumMod val="75000"/>
                      </a:schemeClr>
                    </a:solidFill>
                  </a:rPr>
                  <a:t> data fusion</a:t>
                </a:r>
                <a:endParaRPr lang="it-IT" dirty="0"/>
              </a:p>
              <a:p>
                <a:pPr marL="0" indent="0">
                  <a:buNone/>
                </a:pP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,…, </m:t>
                      </m:r>
                      <m:sSubSup>
                        <m:sSub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it-IT" b="0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it-IT" dirty="0"/>
                  <a:t>are </a:t>
                </a:r>
                <a:r>
                  <a:rPr lang="it-IT" dirty="0" err="1"/>
                  <a:t>extracted</a:t>
                </a:r>
                <a:r>
                  <a:rPr lang="it-IT" dirty="0"/>
                  <a:t> skeleton features and </a:t>
                </a:r>
                <a:r>
                  <a:rPr lang="it-IT" dirty="0" err="1"/>
                  <a:t>extracted</a:t>
                </a:r>
                <a:r>
                  <a:rPr lang="it-IT" dirty="0"/>
                  <a:t> foot pressure features, </a:t>
                </a:r>
                <a:r>
                  <a:rPr lang="it-IT" dirty="0" err="1"/>
                  <a:t>respectively</a:t>
                </a: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151968F-52CE-4AF0-28A8-4850723B73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4491790"/>
                <a:ext cx="8596668" cy="2226568"/>
              </a:xfrm>
              <a:blipFill>
                <a:blip r:embed="rId3"/>
                <a:stretch>
                  <a:fillRect l="-426" t="-21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Segnaposto contenuto 4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413BE177-0CF7-F380-DC55-CEA5EB0F6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8348489" cy="222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2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464CE623-1ADE-9410-7D92-20166720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7587"/>
          </a:xfrm>
        </p:spPr>
        <p:txBody>
          <a:bodyPr/>
          <a:lstStyle/>
          <a:p>
            <a:r>
              <a:rPr lang="en-GB" dirty="0"/>
              <a:t>Classifier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4E4A593D-3F12-2690-5245-8E5809C38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333" y="1789881"/>
            <a:ext cx="8825036" cy="517832"/>
          </a:xfrm>
        </p:spPr>
      </p:pic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69E0DA37-B614-9AA1-D7AD-170A72EF82E0}"/>
              </a:ext>
            </a:extLst>
          </p:cNvPr>
          <p:cNvSpPr txBox="1">
            <a:spLocks/>
          </p:cNvSpPr>
          <p:nvPr/>
        </p:nvSpPr>
        <p:spPr>
          <a:xfrm>
            <a:off x="677333" y="2760407"/>
            <a:ext cx="6932835" cy="3911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>
                <a:solidFill>
                  <a:schemeClr val="tx2"/>
                </a:solidFill>
              </a:rPr>
              <a:t>Shared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between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SkGRU</a:t>
            </a:r>
            <a:r>
              <a:rPr lang="it-IT" dirty="0">
                <a:solidFill>
                  <a:schemeClr val="tx2"/>
                </a:solidFill>
              </a:rPr>
              <a:t>, </a:t>
            </a:r>
            <a:r>
              <a:rPr lang="it-IT" dirty="0" err="1">
                <a:solidFill>
                  <a:schemeClr val="tx2"/>
                </a:solidFill>
              </a:rPr>
              <a:t>PrCNN</a:t>
            </a:r>
            <a:r>
              <a:rPr lang="it-IT" dirty="0">
                <a:solidFill>
                  <a:schemeClr val="tx2"/>
                </a:solidFill>
              </a:rPr>
              <a:t> and </a:t>
            </a:r>
            <a:r>
              <a:rPr lang="it-IT" dirty="0" err="1">
                <a:solidFill>
                  <a:schemeClr val="tx2"/>
                </a:solidFill>
              </a:rPr>
              <a:t>HyM</a:t>
            </a:r>
            <a:endParaRPr lang="it-IT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it-IT" dirty="0"/>
          </a:p>
          <a:p>
            <a:r>
              <a:rPr lang="it-IT" dirty="0">
                <a:solidFill>
                  <a:schemeClr val="tx2"/>
                </a:solidFill>
              </a:rPr>
              <a:t>Core</a:t>
            </a:r>
            <a:r>
              <a:rPr lang="it-IT" dirty="0"/>
              <a:t>: </a:t>
            </a:r>
            <a:r>
              <a:rPr lang="it-IT" b="1" dirty="0"/>
              <a:t>4 dense </a:t>
            </a:r>
            <a:r>
              <a:rPr lang="it-IT" b="1" dirty="0" err="1"/>
              <a:t>layers</a:t>
            </a:r>
            <a:r>
              <a:rPr lang="it-IT" dirty="0"/>
              <a:t> with </a:t>
            </a:r>
            <a:r>
              <a:rPr lang="it-IT" dirty="0" err="1"/>
              <a:t>decreasing</a:t>
            </a:r>
            <a:r>
              <a:rPr lang="it-IT" dirty="0"/>
              <a:t> </a:t>
            </a:r>
            <a:r>
              <a:rPr lang="it-IT" dirty="0" err="1"/>
              <a:t>dimensionality</a:t>
            </a:r>
            <a:r>
              <a:rPr lang="it-IT" dirty="0"/>
              <a:t> and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b="1" dirty="0" err="1"/>
              <a:t>Softmax</a:t>
            </a:r>
            <a:r>
              <a:rPr lang="it-IT" dirty="0"/>
              <a:t> </a:t>
            </a:r>
            <a:r>
              <a:rPr lang="it-IT" dirty="0" err="1"/>
              <a:t>activation</a:t>
            </a:r>
            <a:endParaRPr lang="it-IT" dirty="0"/>
          </a:p>
          <a:p>
            <a:endParaRPr lang="it-IT" dirty="0"/>
          </a:p>
          <a:p>
            <a:r>
              <a:rPr lang="it-IT" b="1" dirty="0"/>
              <a:t>Dropout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and </a:t>
            </a:r>
            <a:r>
              <a:rPr lang="it-IT" b="1" dirty="0"/>
              <a:t>Batch </a:t>
            </a:r>
            <a:r>
              <a:rPr lang="it-IT" b="1" dirty="0" err="1"/>
              <a:t>Normalization</a:t>
            </a:r>
            <a:endParaRPr lang="it-IT" b="1" dirty="0"/>
          </a:p>
          <a:p>
            <a:pPr marL="0" indent="0">
              <a:buNone/>
            </a:pPr>
            <a:endParaRPr lang="it-IT" dirty="0"/>
          </a:p>
          <a:p>
            <a:r>
              <a:rPr lang="it-IT" b="1" dirty="0"/>
              <a:t>L2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(0.01) controls the weights </a:t>
            </a:r>
            <a:r>
              <a:rPr lang="it-IT" dirty="0" err="1"/>
              <a:t>magnitude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As</a:t>
            </a:r>
            <a:r>
              <a:rPr lang="it-IT" dirty="0"/>
              <a:t> in </a:t>
            </a:r>
            <a:r>
              <a:rPr lang="it-IT" dirty="0" err="1"/>
              <a:t>every</a:t>
            </a:r>
            <a:r>
              <a:rPr lang="it-IT" dirty="0"/>
              <a:t> model: </a:t>
            </a:r>
            <a:r>
              <a:rPr lang="it-IT" b="1" dirty="0" err="1"/>
              <a:t>Early</a:t>
            </a:r>
            <a:r>
              <a:rPr lang="it-IT" b="1" dirty="0"/>
              <a:t> </a:t>
            </a:r>
            <a:r>
              <a:rPr lang="it-IT" b="1" dirty="0" err="1"/>
              <a:t>Stopping</a:t>
            </a:r>
            <a:r>
              <a:rPr lang="it-IT" b="1" dirty="0"/>
              <a:t>(10) </a:t>
            </a:r>
            <a:r>
              <a:rPr lang="it-IT" dirty="0"/>
              <a:t>and</a:t>
            </a:r>
            <a:r>
              <a:rPr lang="it-IT" b="1" dirty="0"/>
              <a:t> Model Checkpoint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5355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5CE247-D95A-5B4C-6ECA-D661A9280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>
            <a:noAutofit/>
          </a:bodyPr>
          <a:lstStyle/>
          <a:p>
            <a:r>
              <a:rPr lang="it-IT" sz="2800"/>
              <a:t>Skeleton-based single-modal Spiking Neural Network</a:t>
            </a:r>
            <a:br>
              <a:rPr lang="it-IT" sz="2800"/>
            </a:br>
            <a:r>
              <a:rPr lang="it-IT" sz="2800"/>
              <a:t>(SkSNN)</a:t>
            </a:r>
            <a:endParaRPr lang="it-IT" sz="2800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99E2858-6D71-C08D-2186-C499B7D33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334" y="2036317"/>
            <a:ext cx="8596312" cy="504462"/>
          </a:xfrm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D2BB0FD-BEC9-9D1E-95E2-3A046C23924B}"/>
              </a:ext>
            </a:extLst>
          </p:cNvPr>
          <p:cNvSpPr txBox="1">
            <a:spLocks/>
          </p:cNvSpPr>
          <p:nvPr/>
        </p:nvSpPr>
        <p:spPr>
          <a:xfrm>
            <a:off x="677334" y="3053096"/>
            <a:ext cx="7335956" cy="3454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Skeleton data </a:t>
            </a:r>
            <a:r>
              <a:rPr lang="it-IT" dirty="0" err="1"/>
              <a:t>fitted</a:t>
            </a:r>
            <a:r>
              <a:rPr lang="it-IT" dirty="0"/>
              <a:t> best in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research</a:t>
            </a:r>
            <a:r>
              <a:rPr lang="it-IT" dirty="0"/>
              <a:t> scope</a:t>
            </a:r>
          </a:p>
          <a:p>
            <a:endParaRPr lang="it-IT" dirty="0"/>
          </a:p>
          <a:p>
            <a:r>
              <a:rPr lang="it-IT" dirty="0"/>
              <a:t>Leverage </a:t>
            </a:r>
            <a:r>
              <a:rPr lang="it-IT" dirty="0">
                <a:solidFill>
                  <a:schemeClr val="tx2"/>
                </a:solidFill>
              </a:rPr>
              <a:t>SNN event-</a:t>
            </a:r>
            <a:r>
              <a:rPr lang="it-IT" dirty="0" err="1">
                <a:solidFill>
                  <a:schemeClr val="tx2"/>
                </a:solidFill>
              </a:rPr>
              <a:t>driven</a:t>
            </a:r>
            <a:r>
              <a:rPr lang="it-IT" dirty="0">
                <a:solidFill>
                  <a:schemeClr val="tx2"/>
                </a:solidFill>
              </a:rPr>
              <a:t> processing to </a:t>
            </a:r>
            <a:r>
              <a:rPr lang="it-IT" dirty="0" err="1">
                <a:solidFill>
                  <a:schemeClr val="tx2"/>
                </a:solidFill>
              </a:rPr>
              <a:t>capture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temporal</a:t>
            </a:r>
            <a:r>
              <a:rPr lang="it-IT" dirty="0">
                <a:solidFill>
                  <a:schemeClr val="tx2"/>
                </a:solidFill>
              </a:rPr>
              <a:t> patterns with high </a:t>
            </a:r>
            <a:r>
              <a:rPr lang="it-IT" dirty="0" err="1">
                <a:solidFill>
                  <a:schemeClr val="tx2"/>
                </a:solidFill>
              </a:rPr>
              <a:t>precision</a:t>
            </a:r>
            <a:r>
              <a:rPr lang="it-IT" dirty="0">
                <a:solidFill>
                  <a:schemeClr val="tx2"/>
                </a:solidFill>
              </a:rPr>
              <a:t> and </a:t>
            </a:r>
            <a:r>
              <a:rPr lang="it-IT" dirty="0" err="1">
                <a:solidFill>
                  <a:schemeClr val="tx2"/>
                </a:solidFill>
              </a:rPr>
              <a:t>efficiency</a:t>
            </a:r>
            <a:endParaRPr lang="it-IT" dirty="0">
              <a:solidFill>
                <a:schemeClr val="tx2"/>
              </a:solidFill>
            </a:endParaRPr>
          </a:p>
          <a:p>
            <a:endParaRPr lang="it-IT" dirty="0"/>
          </a:p>
          <a:p>
            <a:r>
              <a:rPr lang="it-IT" b="1" dirty="0"/>
              <a:t>Loop</a:t>
            </a:r>
            <a:r>
              <a:rPr lang="it-IT" dirty="0"/>
              <a:t>: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 </a:t>
            </a:r>
            <a:r>
              <a:rPr lang="it-IT" dirty="0" err="1"/>
              <a:t>process</a:t>
            </a:r>
            <a:r>
              <a:rPr lang="it-IT" dirty="0"/>
              <a:t> </a:t>
            </a:r>
            <a:r>
              <a:rPr lang="it-IT" dirty="0" err="1"/>
              <a:t>sequentially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time step</a:t>
            </a:r>
          </a:p>
          <a:p>
            <a:endParaRPr lang="it-IT" dirty="0"/>
          </a:p>
          <a:p>
            <a:r>
              <a:rPr lang="it-IT" dirty="0"/>
              <a:t>Output spikes are </a:t>
            </a:r>
            <a:r>
              <a:rPr lang="it-IT" dirty="0" err="1"/>
              <a:t>accumulated</a:t>
            </a:r>
            <a:r>
              <a:rPr lang="it-IT" dirty="0"/>
              <a:t> and the </a:t>
            </a:r>
            <a:r>
              <a:rPr lang="it-IT" dirty="0" err="1"/>
              <a:t>loss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computed</a:t>
            </a:r>
            <a:r>
              <a:rPr lang="it-IT" dirty="0"/>
              <a:t> with </a:t>
            </a:r>
            <a:r>
              <a:rPr lang="it-IT" b="1" dirty="0"/>
              <a:t>Cross </a:t>
            </a:r>
            <a:r>
              <a:rPr lang="it-IT" b="1" dirty="0" err="1"/>
              <a:t>Entropy</a:t>
            </a:r>
            <a:r>
              <a:rPr lang="it-IT" b="1" dirty="0"/>
              <a:t> Spike </a:t>
            </a:r>
            <a:r>
              <a:rPr lang="it-IT" b="1" dirty="0" err="1"/>
              <a:t>Count</a:t>
            </a:r>
            <a:r>
              <a:rPr lang="it-IT" b="1" dirty="0"/>
              <a:t> Loss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8385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E48CD-B00D-C999-7720-69FA706B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8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0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7C05830-D2EB-CCF1-FE41-5306FFA31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5" y="1282701"/>
            <a:ext cx="5096060" cy="4307148"/>
          </a:xfrm>
        </p:spPr>
        <p:txBody>
          <a:bodyPr anchor="ctr">
            <a:normAutofit/>
          </a:bodyPr>
          <a:lstStyle/>
          <a:p>
            <a:r>
              <a:rPr lang="it-IT"/>
              <a:t>RESULTS</a:t>
            </a:r>
            <a:endParaRPr lang="it-IT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04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88972B-4A4D-ECFB-B4A2-E0A6FCBD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dirty="0"/>
              <a:t>Models performance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F4ACD3C-91F7-6072-D9C8-A1A0B89B6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901" y="1403091"/>
            <a:ext cx="5824946" cy="253595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83561D-E20B-8659-21EE-22B46468C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595" y="4186931"/>
            <a:ext cx="4410676" cy="22630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HyM</a:t>
            </a:r>
            <a:r>
              <a:rPr lang="it-IT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best performance</a:t>
            </a:r>
            <a:endParaRPr lang="it-IT" sz="1600" dirty="0"/>
          </a:p>
          <a:p>
            <a:pPr>
              <a:lnSpc>
                <a:spcPct val="90000"/>
              </a:lnSpc>
            </a:pPr>
            <a:r>
              <a:rPr lang="it-IT" sz="1600" dirty="0" err="1"/>
              <a:t>SkGRU</a:t>
            </a:r>
            <a:r>
              <a:rPr lang="it-IT" sz="1600" dirty="0"/>
              <a:t> </a:t>
            </a:r>
            <a:r>
              <a:rPr lang="it-IT" sz="1600" dirty="0" err="1"/>
              <a:t>slightly</a:t>
            </a:r>
            <a:r>
              <a:rPr lang="it-IT" sz="1600" dirty="0"/>
              <a:t> </a:t>
            </a:r>
            <a:r>
              <a:rPr lang="it-IT" sz="1600" dirty="0" err="1"/>
              <a:t>worse</a:t>
            </a:r>
            <a:r>
              <a:rPr lang="it-IT" sz="1600" dirty="0"/>
              <a:t>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faster</a:t>
            </a:r>
            <a:r>
              <a:rPr lang="it-IT" sz="1600" dirty="0"/>
              <a:t> </a:t>
            </a:r>
            <a:r>
              <a:rPr lang="it-IT" sz="1600" dirty="0" err="1"/>
              <a:t>inference</a:t>
            </a:r>
            <a:r>
              <a:rPr lang="it-IT" sz="1600" dirty="0"/>
              <a:t> and </a:t>
            </a:r>
            <a:r>
              <a:rPr lang="it-IT" sz="1600" dirty="0" err="1"/>
              <a:t>less</a:t>
            </a:r>
            <a:r>
              <a:rPr lang="it-IT" sz="1600" dirty="0"/>
              <a:t> </a:t>
            </a:r>
            <a:r>
              <a:rPr lang="it-IT" sz="1600" dirty="0" err="1"/>
              <a:t>parameters</a:t>
            </a:r>
            <a:endParaRPr lang="it-IT" sz="1600" dirty="0"/>
          </a:p>
          <a:p>
            <a:pPr>
              <a:lnSpc>
                <a:spcPct val="90000"/>
              </a:lnSpc>
            </a:pPr>
            <a:r>
              <a:rPr lang="it-IT" sz="1600" dirty="0"/>
              <a:t>Skeleton-</a:t>
            </a:r>
            <a:r>
              <a:rPr lang="it-IT" sz="1600" dirty="0" err="1"/>
              <a:t>based</a:t>
            </a:r>
            <a:r>
              <a:rPr lang="it-IT" sz="1600" dirty="0"/>
              <a:t> single </a:t>
            </a:r>
            <a:r>
              <a:rPr lang="it-IT" sz="1600" dirty="0" err="1"/>
              <a:t>modal</a:t>
            </a:r>
            <a:r>
              <a:rPr lang="it-IT" sz="1600" dirty="0"/>
              <a:t> SNN with best </a:t>
            </a:r>
            <a:r>
              <a:rPr lang="it-IT" sz="1600" dirty="0" err="1"/>
              <a:t>SkGRU</a:t>
            </a:r>
            <a:r>
              <a:rPr lang="it-IT" sz="1600" dirty="0"/>
              <a:t> </a:t>
            </a:r>
            <a:r>
              <a:rPr lang="it-IT" sz="1600" dirty="0" err="1"/>
              <a:t>parameters</a:t>
            </a:r>
            <a:endParaRPr lang="it-IT" sz="1600" dirty="0"/>
          </a:p>
          <a:p>
            <a:pPr>
              <a:lnSpc>
                <a:spcPct val="90000"/>
              </a:lnSpc>
            </a:pPr>
            <a:r>
              <a:rPr lang="it-IT" sz="1600" dirty="0" err="1"/>
              <a:t>SkSNN</a:t>
            </a:r>
            <a:r>
              <a:rPr lang="it-IT" sz="1600" dirty="0"/>
              <a:t>: good </a:t>
            </a:r>
            <a:r>
              <a:rPr lang="it-IT" sz="1600" dirty="0" err="1"/>
              <a:t>accuracy</a:t>
            </a:r>
            <a:r>
              <a:rPr lang="it-IT" sz="1600" dirty="0"/>
              <a:t> </a:t>
            </a:r>
            <a:r>
              <a:rPr lang="it-IT" sz="1600" dirty="0" err="1"/>
              <a:t>while</a:t>
            </a:r>
            <a:r>
              <a:rPr lang="it-IT" sz="1600" dirty="0"/>
              <a:t> </a:t>
            </a:r>
            <a:r>
              <a:rPr lang="it-IT" sz="1600" dirty="0" err="1"/>
              <a:t>being</a:t>
            </a:r>
            <a:r>
              <a:rPr lang="it-IT" sz="1600" dirty="0"/>
              <a:t> </a:t>
            </a:r>
            <a:r>
              <a:rPr lang="it-IT" sz="1600" dirty="0" err="1"/>
              <a:t>relatively</a:t>
            </a:r>
            <a:r>
              <a:rPr lang="it-IT" sz="1600" dirty="0"/>
              <a:t> </a:t>
            </a:r>
            <a:r>
              <a:rPr lang="it-IT" sz="1600" dirty="0" err="1"/>
              <a:t>simple</a:t>
            </a:r>
            <a:endParaRPr lang="it-IT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5D19153-5650-A02B-4FA2-3B43862A37B4}"/>
                  </a:ext>
                </a:extLst>
              </p:cNvPr>
              <p:cNvSpPr txBox="1"/>
              <p:nvPr/>
            </p:nvSpPr>
            <p:spPr>
              <a:xfrm>
                <a:off x="626698" y="4186931"/>
                <a:ext cx="4410676" cy="1851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4572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90C226"/>
                  </a:buClr>
                  <a:buSzPct val="80000"/>
                  <a:buFont typeface="Wingdings 3" charset="2"/>
                  <a:buChar char=""/>
                  <a:tabLst/>
                  <a:defRPr/>
                </a:pP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Grid </a:t>
                </a:r>
                <a:r>
                  <a:rPr kumimoji="0" lang="it-IT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search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 </a:t>
                </a:r>
                <a:r>
                  <a:rPr kumimoji="0" lang="it-IT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across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 </a:t>
                </a:r>
                <a:r>
                  <a:rPr kumimoji="0" lang="it-IT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different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 code sizes and joints groups</a:t>
                </a:r>
              </a:p>
              <a:p>
                <a:pPr marL="742950" marR="0" lvl="1" indent="-285750" algn="l" defTabSz="4572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90C226"/>
                  </a:buClr>
                  <a:buSzPct val="80000"/>
                  <a:buFont typeface="Wingdings 3" charset="2"/>
                  <a:buChar char=""/>
                  <a:tabLst/>
                  <a:defRPr/>
                </a:pP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Best models</a:t>
                </a:r>
              </a:p>
              <a:p>
                <a:pPr marL="1143000" marR="0" lvl="2" indent="-228600" algn="l" defTabSz="4572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90C226"/>
                  </a:buClr>
                  <a:buSzPct val="80000"/>
                  <a:buFont typeface="Wingdings 3" charset="2"/>
                  <a:buChar char=""/>
                  <a:tabLst/>
                  <a:defRPr/>
                </a:pPr>
                <a:r>
                  <a:rPr kumimoji="0" lang="it-IT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64, </a:t>
                </a:r>
                <a:r>
                  <a:rPr kumimoji="0" lang="it-IT" sz="13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only_legs</a:t>
                </a:r>
                <a:r>
                  <a:rPr kumimoji="0" lang="it-IT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 = false for </a:t>
                </a:r>
                <a:r>
                  <a:rPr kumimoji="0" lang="it-IT" sz="13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SkGRU</a:t>
                </a:r>
                <a:endParaRPr kumimoji="0" lang="it-IT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  <a:p>
                <a:pPr marL="1143000" marR="0" lvl="2" indent="-228600" algn="l" defTabSz="4572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90C226"/>
                  </a:buClr>
                  <a:buSzPct val="80000"/>
                  <a:buFont typeface="Wingdings 3" charset="2"/>
                  <a:buChar char=""/>
                  <a:tabLst/>
                  <a:defRPr/>
                </a:pPr>
                <a:r>
                  <a:rPr kumimoji="0" lang="it-IT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16 for </a:t>
                </a:r>
                <a:r>
                  <a:rPr kumimoji="0" lang="it-IT" sz="13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PrCNN</a:t>
                </a:r>
                <a:endParaRPr kumimoji="0" lang="it-IT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  <a:p>
                <a:pPr marL="342900" marR="0" lvl="0" indent="-342900" algn="l" defTabSz="4572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90C226"/>
                  </a:buClr>
                  <a:buSzPct val="80000"/>
                  <a:buFont typeface="Wingdings 3" charset="2"/>
                  <a:buChar char=""/>
                  <a:tabLst/>
                  <a:defRPr/>
                </a:pPr>
                <a:r>
                  <a:rPr kumimoji="0" lang="it-IT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HyM</a:t>
                </a:r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it-IT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64+16=80</m:t>
                    </m:r>
                  </m:oMath>
                </a14:m>
                <a:r>
                  <a:rPr kumimoji="0" lang="it-IT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 features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5D19153-5650-A02B-4FA2-3B43862A3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98" y="4186931"/>
                <a:ext cx="4410676" cy="1851789"/>
              </a:xfrm>
              <a:prstGeom prst="rect">
                <a:avLst/>
              </a:prstGeom>
              <a:blipFill>
                <a:blip r:embed="rId3"/>
                <a:stretch>
                  <a:fillRect l="-138" t="-2632" b="-29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586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62EF17-B3AB-F627-0DBF-F8730814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7" cy="1320800"/>
          </a:xfrm>
        </p:spPr>
        <p:txBody>
          <a:bodyPr>
            <a:normAutofit/>
          </a:bodyPr>
          <a:lstStyle/>
          <a:p>
            <a:r>
              <a:rPr lang="it-IT" dirty="0"/>
              <a:t>t-SNE (t-</a:t>
            </a:r>
            <a:r>
              <a:rPr lang="it-IT" dirty="0" err="1"/>
              <a:t>distributed</a:t>
            </a:r>
            <a:r>
              <a:rPr lang="it-IT" dirty="0"/>
              <a:t> </a:t>
            </a:r>
            <a:r>
              <a:rPr lang="it-IT" dirty="0" err="1"/>
              <a:t>Stochastic</a:t>
            </a:r>
            <a:r>
              <a:rPr lang="it-IT" dirty="0"/>
              <a:t> </a:t>
            </a:r>
            <a:r>
              <a:rPr lang="it-IT" dirty="0" err="1"/>
              <a:t>Neighbor</a:t>
            </a:r>
            <a:r>
              <a:rPr lang="it-IT" dirty="0"/>
              <a:t> </a:t>
            </a:r>
            <a:r>
              <a:rPr lang="it-IT" dirty="0" err="1"/>
              <a:t>Embedding</a:t>
            </a:r>
            <a:r>
              <a:rPr lang="it-IT" dirty="0"/>
              <a:t>)</a:t>
            </a:r>
          </a:p>
        </p:txBody>
      </p:sp>
      <p:pic>
        <p:nvPicPr>
          <p:cNvPr id="8" name="Immagine 7" descr="Immagine che contiene schermat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E6A641B-5FE7-2DD0-1DD4-10C3A5CC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73" y="2156359"/>
            <a:ext cx="2435400" cy="1826550"/>
          </a:xfrm>
          <a:prstGeom prst="rect">
            <a:avLst/>
          </a:prstGeom>
        </p:spPr>
      </p:pic>
      <p:pic>
        <p:nvPicPr>
          <p:cNvPr id="5" name="Segnaposto contenuto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CFCA329-E9CC-3828-5FA1-4F726BC35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562"/>
          <a:stretch>
            <a:fillRect/>
          </a:stretch>
        </p:blipFill>
        <p:spPr>
          <a:xfrm>
            <a:off x="3520375" y="2156359"/>
            <a:ext cx="2551789" cy="1826550"/>
          </a:xfrm>
          <a:prstGeom prst="rect">
            <a:avLst/>
          </a:prstGeom>
        </p:spPr>
      </p:pic>
      <p:pic>
        <p:nvPicPr>
          <p:cNvPr id="7" name="Immagine 6" descr="Immagine che contiene schermat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CCC46D3-F6FE-85F2-8907-B50DA168C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073"/>
          <a:stretch>
            <a:fillRect/>
          </a:stretch>
        </p:blipFill>
        <p:spPr>
          <a:xfrm>
            <a:off x="692672" y="4214812"/>
            <a:ext cx="2565602" cy="1826550"/>
          </a:xfrm>
          <a:prstGeom prst="rect">
            <a:avLst/>
          </a:prstGeom>
        </p:spPr>
      </p:pic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21F9E04E-A345-946F-9C34-F7350CE5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363" y="2160589"/>
            <a:ext cx="2944638" cy="3880773"/>
          </a:xfrm>
        </p:spPr>
        <p:txBody>
          <a:bodyPr>
            <a:normAutofit lnSpcReduction="10000"/>
          </a:bodyPr>
          <a:lstStyle/>
          <a:p>
            <a:r>
              <a:rPr lang="en-US" sz="1700" dirty="0"/>
              <a:t>Non-linear dimensionality reduction technique applied to the extracted features to observe their ability in separating the classes</a:t>
            </a:r>
          </a:p>
          <a:p>
            <a:endParaRPr lang="en-US" sz="1700" dirty="0"/>
          </a:p>
          <a:p>
            <a:r>
              <a:rPr lang="en-US" sz="1700" dirty="0"/>
              <a:t>Models’ classification capability confirmed</a:t>
            </a:r>
          </a:p>
          <a:p>
            <a:pPr lvl="1"/>
            <a:r>
              <a:rPr lang="en-US" sz="1400" dirty="0"/>
              <a:t>HyM and </a:t>
            </a:r>
            <a:r>
              <a:rPr lang="en-US" sz="1400" dirty="0" err="1"/>
              <a:t>SkGRU</a:t>
            </a:r>
            <a:r>
              <a:rPr lang="en-US" sz="1400" dirty="0"/>
              <a:t> similar performance</a:t>
            </a:r>
          </a:p>
          <a:p>
            <a:pPr lvl="1"/>
            <a:r>
              <a:rPr lang="en-US" sz="1400" dirty="0" err="1"/>
              <a:t>PrCNN</a:t>
            </a:r>
            <a:r>
              <a:rPr lang="en-US" sz="1400" dirty="0"/>
              <a:t> poor performance</a:t>
            </a:r>
          </a:p>
          <a:p>
            <a:pPr lvl="1"/>
            <a:r>
              <a:rPr lang="en-US" sz="1400" dirty="0" err="1"/>
              <a:t>SkSNN</a:t>
            </a:r>
            <a:r>
              <a:rPr lang="en-US" sz="1400" dirty="0"/>
              <a:t> promising performance </a:t>
            </a:r>
          </a:p>
          <a:p>
            <a:endParaRPr lang="en-US" sz="1500" dirty="0"/>
          </a:p>
          <a:p>
            <a:endParaRPr lang="en-US" sz="1500" dirty="0"/>
          </a:p>
        </p:txBody>
      </p:sp>
      <p:pic>
        <p:nvPicPr>
          <p:cNvPr id="4" name="Segnaposto contenuto 3" descr="Immagine che contiene testo, schermata, software, diagramma&#10;&#10;Il contenuto generato dall'IA potrebbe non essere corretto.">
            <a:extLst>
              <a:ext uri="{FF2B5EF4-FFF2-40B4-BE49-F238E27FC236}">
                <a16:creationId xmlns:a16="http://schemas.microsoft.com/office/drawing/2014/main" id="{751DCDC0-F4E9-A466-9D55-AA5646A93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473" y="4208868"/>
            <a:ext cx="2539512" cy="1904634"/>
          </a:xfrm>
          <a:prstGeom prst="rect">
            <a:avLst/>
          </a:prstGeom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09F8AB47-E432-7EA5-C183-34C8668548B9}"/>
              </a:ext>
            </a:extLst>
          </p:cNvPr>
          <p:cNvSpPr/>
          <p:nvPr/>
        </p:nvSpPr>
        <p:spPr>
          <a:xfrm>
            <a:off x="757773" y="6248400"/>
            <a:ext cx="3819738" cy="28942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i="1" dirty="0">
                <a:solidFill>
                  <a:schemeClr val="tx1"/>
                </a:solidFill>
              </a:rPr>
              <a:t>t-SNE </a:t>
            </a:r>
            <a:r>
              <a:rPr lang="it-IT" sz="1200" i="1" dirty="0" err="1">
                <a:solidFill>
                  <a:schemeClr val="tx1"/>
                </a:solidFill>
              </a:rPr>
              <a:t>visualization</a:t>
            </a:r>
            <a:r>
              <a:rPr lang="it-IT" sz="1200" i="1" dirty="0">
                <a:solidFill>
                  <a:schemeClr val="tx1"/>
                </a:solidFill>
              </a:rPr>
              <a:t> for </a:t>
            </a:r>
            <a:r>
              <a:rPr lang="it-IT" sz="1200" i="1" dirty="0" err="1">
                <a:solidFill>
                  <a:schemeClr val="tx1"/>
                </a:solidFill>
              </a:rPr>
              <a:t>subject</a:t>
            </a:r>
            <a:r>
              <a:rPr lang="it-IT" sz="1200" i="1" dirty="0">
                <a:solidFill>
                  <a:schemeClr val="tx1"/>
                </a:solidFill>
              </a:rPr>
              <a:t> 3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27760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3FEC15-414D-455E-F9D2-4B5FE7F8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GAIT-SPECIFIC PERFORMANCE</a:t>
            </a:r>
          </a:p>
        </p:txBody>
      </p:sp>
      <p:pic>
        <p:nvPicPr>
          <p:cNvPr id="5" name="Segnaposto contenuto 4" descr="Immagine che contiene testo, schermata, Rettangolo, diagramma&#10;&#10;Il contenuto generato dall'IA potrebbe non essere corretto.">
            <a:extLst>
              <a:ext uri="{FF2B5EF4-FFF2-40B4-BE49-F238E27FC236}">
                <a16:creationId xmlns:a16="http://schemas.microsoft.com/office/drawing/2014/main" id="{1DCED5AE-BA96-AB60-9E6D-DB3539AFA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32" y="1704440"/>
            <a:ext cx="2880713" cy="2052509"/>
          </a:xfrm>
          <a:prstGeom prst="rect">
            <a:avLst/>
          </a:prstGeom>
        </p:spPr>
      </p:pic>
      <p:pic>
        <p:nvPicPr>
          <p:cNvPr id="11" name="Immagine 10" descr="Immagine che contiene testo, schermata, Rettangolo, diagramma&#10;&#10;Il contenuto generato dall'IA potrebbe non essere corretto.">
            <a:extLst>
              <a:ext uri="{FF2B5EF4-FFF2-40B4-BE49-F238E27FC236}">
                <a16:creationId xmlns:a16="http://schemas.microsoft.com/office/drawing/2014/main" id="{AC26E8C7-C1E2-9491-1FE6-E231B9328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649" y="1704441"/>
            <a:ext cx="2880713" cy="2052509"/>
          </a:xfrm>
          <a:prstGeom prst="rect">
            <a:avLst/>
          </a:prstGeom>
        </p:spPr>
      </p:pic>
      <p:pic>
        <p:nvPicPr>
          <p:cNvPr id="9" name="Immagine 8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CEF0584F-83BB-765B-FD17-100D2B9F4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32" y="3976420"/>
            <a:ext cx="2880713" cy="2052509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ABB1AC0-C34C-ED52-3D49-9ABA43059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362" y="2160589"/>
            <a:ext cx="3119438" cy="3752531"/>
          </a:xfrm>
        </p:spPr>
        <p:txBody>
          <a:bodyPr>
            <a:normAutofit/>
          </a:bodyPr>
          <a:lstStyle/>
          <a:p>
            <a:r>
              <a:rPr lang="en-US" sz="1600" dirty="0"/>
              <a:t>HyM and </a:t>
            </a:r>
            <a:r>
              <a:rPr lang="en-US" sz="1600" dirty="0" err="1"/>
              <a:t>SkGRU</a:t>
            </a:r>
            <a:r>
              <a:rPr lang="en-US" sz="1600" dirty="0"/>
              <a:t> similar performance</a:t>
            </a:r>
          </a:p>
          <a:p>
            <a:pPr lvl="1"/>
            <a:r>
              <a:rPr lang="en-US" sz="1300" dirty="0" err="1"/>
              <a:t>SkGRU</a:t>
            </a:r>
            <a:r>
              <a:rPr lang="en-US" sz="1300" dirty="0"/>
              <a:t> better for Normal gait</a:t>
            </a:r>
          </a:p>
          <a:p>
            <a:pPr lvl="1"/>
            <a:r>
              <a:rPr lang="en-US" sz="1300" dirty="0"/>
              <a:t>HyM better for Antalgic gait</a:t>
            </a:r>
          </a:p>
          <a:p>
            <a:pPr lvl="1"/>
            <a:r>
              <a:rPr lang="en-US" sz="1300" dirty="0"/>
              <a:t>Antalgic and Trendelenburg misclassified as each other</a:t>
            </a:r>
          </a:p>
          <a:p>
            <a:pPr lvl="1"/>
            <a:endParaRPr lang="en-US" sz="1300" dirty="0"/>
          </a:p>
          <a:p>
            <a:r>
              <a:rPr lang="en-US" sz="1600" dirty="0" err="1"/>
              <a:t>SkSNN</a:t>
            </a:r>
            <a:r>
              <a:rPr lang="en-US" sz="1600" dirty="0"/>
              <a:t>: modest results within Antalgic and Trendelenburg classes</a:t>
            </a:r>
          </a:p>
        </p:txBody>
      </p:sp>
      <p:pic>
        <p:nvPicPr>
          <p:cNvPr id="7" name="Immagine 6" descr="Immagine che contiene testo, schermata, Rettangolo, quadrato&#10;&#10;Il contenuto generato dall'IA potrebbe non essere corretto.">
            <a:extLst>
              <a:ext uri="{FF2B5EF4-FFF2-40B4-BE49-F238E27FC236}">
                <a16:creationId xmlns:a16="http://schemas.microsoft.com/office/drawing/2014/main" id="{33D06A50-D490-72AB-62B3-496783B51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649" y="3860612"/>
            <a:ext cx="2880712" cy="2052508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BA213D9-F234-FB9D-138F-46FA0730D04F}"/>
              </a:ext>
            </a:extLst>
          </p:cNvPr>
          <p:cNvSpPr/>
          <p:nvPr/>
        </p:nvSpPr>
        <p:spPr>
          <a:xfrm>
            <a:off x="757773" y="6248400"/>
            <a:ext cx="3819738" cy="28942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>
                <a:solidFill>
                  <a:schemeClr val="tx1"/>
                </a:solidFill>
              </a:rPr>
              <a:t>Confusion</a:t>
            </a:r>
            <a:r>
              <a:rPr lang="it-IT" sz="1100" dirty="0">
                <a:solidFill>
                  <a:schemeClr val="tx1"/>
                </a:solidFill>
              </a:rPr>
              <a:t> </a:t>
            </a:r>
            <a:r>
              <a:rPr lang="it-IT" sz="1100" dirty="0" err="1">
                <a:solidFill>
                  <a:schemeClr val="tx1"/>
                </a:solidFill>
              </a:rPr>
              <a:t>matrices</a:t>
            </a:r>
            <a:r>
              <a:rPr lang="it-IT" sz="1100" dirty="0">
                <a:solidFill>
                  <a:schemeClr val="tx1"/>
                </a:solidFill>
              </a:rPr>
              <a:t> </a:t>
            </a:r>
            <a:r>
              <a:rPr lang="it-IT" sz="1100" dirty="0" err="1">
                <a:solidFill>
                  <a:schemeClr val="tx1"/>
                </a:solidFill>
              </a:rPr>
              <a:t>order</a:t>
            </a:r>
            <a:r>
              <a:rPr lang="it-IT" sz="1100" dirty="0">
                <a:solidFill>
                  <a:schemeClr val="tx1"/>
                </a:solidFill>
              </a:rPr>
              <a:t>: </a:t>
            </a:r>
            <a:r>
              <a:rPr lang="it-IT" sz="1100" dirty="0" err="1">
                <a:solidFill>
                  <a:schemeClr val="tx1"/>
                </a:solidFill>
              </a:rPr>
              <a:t>SkGRU</a:t>
            </a:r>
            <a:r>
              <a:rPr lang="it-IT" sz="1100" dirty="0">
                <a:solidFill>
                  <a:schemeClr val="tx1"/>
                </a:solidFill>
              </a:rPr>
              <a:t>, </a:t>
            </a:r>
            <a:r>
              <a:rPr lang="it-IT" sz="1100" dirty="0" err="1">
                <a:solidFill>
                  <a:schemeClr val="tx1"/>
                </a:solidFill>
              </a:rPr>
              <a:t>SkSNN</a:t>
            </a:r>
            <a:r>
              <a:rPr lang="it-IT" sz="1100" dirty="0">
                <a:solidFill>
                  <a:schemeClr val="tx1"/>
                </a:solidFill>
              </a:rPr>
              <a:t>, </a:t>
            </a:r>
            <a:r>
              <a:rPr lang="it-IT" sz="1100" dirty="0" err="1">
                <a:solidFill>
                  <a:schemeClr val="tx1"/>
                </a:solidFill>
              </a:rPr>
              <a:t>HyM</a:t>
            </a:r>
            <a:r>
              <a:rPr lang="it-IT" sz="1100" dirty="0">
                <a:solidFill>
                  <a:schemeClr val="tx1"/>
                </a:solidFill>
              </a:rPr>
              <a:t>, </a:t>
            </a:r>
            <a:r>
              <a:rPr lang="it-IT" sz="1100" dirty="0" err="1">
                <a:solidFill>
                  <a:schemeClr val="tx1"/>
                </a:solidFill>
              </a:rPr>
              <a:t>PrCNN</a:t>
            </a:r>
            <a:r>
              <a:rPr lang="it-IT" sz="11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3135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841AD2-C312-3A20-6984-DCB3F58D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/>
              <a:t>EFFICIENCY-AWARE MODEL COMPARISON</a:t>
            </a:r>
            <a:endParaRPr lang="it-IT" dirty="0"/>
          </a:p>
        </p:txBody>
      </p:sp>
      <p:pic>
        <p:nvPicPr>
          <p:cNvPr id="9" name="Segnaposto contenuto 8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5313CCB-2945-B206-E58E-0958CEF48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07327"/>
            <a:ext cx="5418666" cy="325120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321BA2B-0D4F-160D-681A-69D921198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363" y="1626014"/>
            <a:ext cx="3168597" cy="4415348"/>
          </a:xfrm>
        </p:spPr>
        <p:txBody>
          <a:bodyPr>
            <a:normAutofit fontScale="25000" lnSpcReduction="20000"/>
          </a:bodyPr>
          <a:lstStyle/>
          <a:p>
            <a:r>
              <a:rPr lang="en-US" sz="6400" dirty="0"/>
              <a:t>HyM</a:t>
            </a:r>
          </a:p>
          <a:p>
            <a:pPr marL="457200" lvl="1" indent="0">
              <a:buNone/>
            </a:pPr>
            <a:r>
              <a:rPr lang="it-IT" sz="5600" dirty="0"/>
              <a:t>✔ </a:t>
            </a:r>
            <a:r>
              <a:rPr lang="it-IT" sz="5600" dirty="0" err="1"/>
              <a:t>Accuracy</a:t>
            </a:r>
            <a:r>
              <a:rPr lang="it-IT" sz="5600" dirty="0"/>
              <a:t> </a:t>
            </a:r>
          </a:p>
          <a:p>
            <a:pPr marL="457200" lvl="1" indent="0">
              <a:buNone/>
            </a:pPr>
            <a:r>
              <a:rPr lang="it-IT" sz="5600" dirty="0"/>
              <a:t>✖ </a:t>
            </a:r>
            <a:r>
              <a:rPr lang="it-IT" sz="5600" dirty="0" err="1"/>
              <a:t>Parameters</a:t>
            </a:r>
            <a:endParaRPr lang="it-IT" sz="5600" dirty="0"/>
          </a:p>
          <a:p>
            <a:pPr marL="457200" lvl="1" indent="0">
              <a:buNone/>
            </a:pPr>
            <a:r>
              <a:rPr lang="it-IT" sz="5600" dirty="0"/>
              <a:t>✖ Mean </a:t>
            </a:r>
            <a:r>
              <a:rPr lang="it-IT" sz="5600" dirty="0" err="1"/>
              <a:t>inference</a:t>
            </a:r>
            <a:r>
              <a:rPr lang="it-IT" sz="5600" dirty="0"/>
              <a:t> time</a:t>
            </a:r>
            <a:endParaRPr lang="en-US" sz="5600" dirty="0"/>
          </a:p>
          <a:p>
            <a:r>
              <a:rPr lang="en-US" sz="6400" dirty="0" err="1"/>
              <a:t>SkGRU</a:t>
            </a:r>
            <a:endParaRPr lang="en-US" sz="6400" dirty="0"/>
          </a:p>
          <a:p>
            <a:pPr marL="457200" lvl="1" indent="0">
              <a:buNone/>
            </a:pPr>
            <a:r>
              <a:rPr lang="it-IT" sz="5600" dirty="0"/>
              <a:t>✔ </a:t>
            </a:r>
            <a:r>
              <a:rPr lang="it-IT" sz="5600" dirty="0" err="1"/>
              <a:t>Accuracy</a:t>
            </a:r>
            <a:endParaRPr lang="it-IT" sz="5600" dirty="0"/>
          </a:p>
          <a:p>
            <a:pPr marL="457200" lvl="1" indent="0">
              <a:buNone/>
            </a:pPr>
            <a:r>
              <a:rPr lang="en-US" sz="5600" dirty="0"/>
              <a:t>=  Parameters</a:t>
            </a:r>
            <a:endParaRPr lang="it-IT" sz="5600" dirty="0"/>
          </a:p>
          <a:p>
            <a:pPr marL="457200" lvl="1" indent="0">
              <a:buNone/>
            </a:pPr>
            <a:r>
              <a:rPr lang="it-IT" sz="5600" dirty="0"/>
              <a:t>✔ Mean </a:t>
            </a:r>
            <a:r>
              <a:rPr lang="it-IT" sz="5600" dirty="0" err="1"/>
              <a:t>inference</a:t>
            </a:r>
            <a:r>
              <a:rPr lang="it-IT" sz="5600" dirty="0"/>
              <a:t> time</a:t>
            </a:r>
          </a:p>
          <a:p>
            <a:r>
              <a:rPr lang="en-US" sz="6400" dirty="0" err="1"/>
              <a:t>SkSNN</a:t>
            </a:r>
            <a:endParaRPr lang="en-US" sz="6400" dirty="0"/>
          </a:p>
          <a:p>
            <a:pPr marL="457200" lvl="1" indent="0">
              <a:buNone/>
            </a:pPr>
            <a:r>
              <a:rPr lang="en-US" sz="5400" dirty="0"/>
              <a:t>=  Accuracy</a:t>
            </a:r>
          </a:p>
          <a:p>
            <a:pPr marL="457200" lvl="1" indent="0">
              <a:buNone/>
            </a:pPr>
            <a:r>
              <a:rPr lang="en-US" sz="5400" dirty="0"/>
              <a:t>=  Mean inference time</a:t>
            </a:r>
          </a:p>
          <a:p>
            <a:pPr marL="457200" lvl="1" indent="0">
              <a:buNone/>
            </a:pPr>
            <a:r>
              <a:rPr lang="it-IT" sz="5400" dirty="0"/>
              <a:t>✔ </a:t>
            </a:r>
            <a:r>
              <a:rPr lang="it-IT" sz="5400" dirty="0" err="1"/>
              <a:t>Parameters</a:t>
            </a:r>
            <a:endParaRPr lang="en-US" sz="5400" dirty="0"/>
          </a:p>
          <a:p>
            <a:pPr marL="457200" lvl="1" indent="0">
              <a:buNone/>
            </a:pPr>
            <a:r>
              <a:rPr lang="en-US" sz="5600" dirty="0"/>
              <a:t>+  Future developments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600" dirty="0"/>
          </a:p>
          <a:p>
            <a:pPr marL="457200" lvl="1" indent="0">
              <a:buNone/>
            </a:pPr>
            <a:r>
              <a:rPr lang="en-US" sz="1400" dirty="0"/>
              <a:t>							</a:t>
            </a:r>
          </a:p>
          <a:p>
            <a:pPr marL="457200" lvl="1" indent="0">
              <a:buNone/>
            </a:pPr>
            <a:r>
              <a:rPr lang="it-IT" sz="1400" dirty="0"/>
              <a:t>	</a:t>
            </a:r>
            <a:endParaRPr lang="en-US" sz="1400" dirty="0"/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r>
              <a:rPr lang="it-IT" sz="1400" dirty="0"/>
              <a:t>							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70230DE4-D374-6C53-6F4F-1B151EDC8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972213"/>
            <a:ext cx="4983704" cy="106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62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20C64A-BBE4-B176-0277-06367F76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B0B062-54CD-B928-4602-A8966B24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HyM</a:t>
            </a:r>
            <a:r>
              <a:rPr lang="it-IT" dirty="0"/>
              <a:t> </a:t>
            </a:r>
            <a:r>
              <a:rPr lang="it-IT" dirty="0" err="1"/>
              <a:t>resulted</a:t>
            </a:r>
            <a:r>
              <a:rPr lang="it-IT" dirty="0"/>
              <a:t> to be the best model in </a:t>
            </a:r>
            <a:r>
              <a:rPr lang="it-IT" dirty="0" err="1"/>
              <a:t>terms</a:t>
            </a:r>
            <a:r>
              <a:rPr lang="it-IT" dirty="0"/>
              <a:t> of </a:t>
            </a:r>
            <a:r>
              <a:rPr lang="it-IT" dirty="0" err="1"/>
              <a:t>accuracy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with high </a:t>
            </a:r>
            <a:r>
              <a:rPr lang="it-IT" dirty="0" err="1"/>
              <a:t>spatial</a:t>
            </a:r>
            <a:r>
              <a:rPr lang="it-IT" dirty="0"/>
              <a:t> and </a:t>
            </a:r>
            <a:r>
              <a:rPr lang="it-IT" dirty="0" err="1"/>
              <a:t>temporal</a:t>
            </a:r>
            <a:r>
              <a:rPr lang="it-IT" dirty="0"/>
              <a:t> costs</a:t>
            </a:r>
          </a:p>
          <a:p>
            <a:r>
              <a:rPr lang="it-IT" dirty="0" err="1"/>
              <a:t>SkGRU</a:t>
            </a:r>
            <a:r>
              <a:rPr lang="it-IT" dirty="0"/>
              <a:t>, with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, </a:t>
            </a:r>
            <a:r>
              <a:rPr lang="it-IT" dirty="0" err="1"/>
              <a:t>allows</a:t>
            </a:r>
            <a:r>
              <a:rPr lang="it-IT" dirty="0"/>
              <a:t> to </a:t>
            </a:r>
            <a:r>
              <a:rPr lang="it-IT" dirty="0" err="1"/>
              <a:t>save</a:t>
            </a:r>
            <a:r>
              <a:rPr lang="it-IT" dirty="0"/>
              <a:t>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resources</a:t>
            </a:r>
            <a:endParaRPr lang="it-IT" dirty="0"/>
          </a:p>
          <a:p>
            <a:r>
              <a:rPr lang="it-IT" dirty="0" err="1"/>
              <a:t>SkSNN</a:t>
            </a:r>
            <a:r>
              <a:rPr lang="it-IT" dirty="0"/>
              <a:t> </a:t>
            </a:r>
            <a:r>
              <a:rPr lang="it-IT" dirty="0" err="1"/>
              <a:t>ensures</a:t>
            </a:r>
            <a:r>
              <a:rPr lang="it-IT" dirty="0"/>
              <a:t> </a:t>
            </a:r>
            <a:r>
              <a:rPr lang="it-IT" dirty="0" err="1"/>
              <a:t>acceptable</a:t>
            </a:r>
            <a:r>
              <a:rPr lang="it-IT" dirty="0"/>
              <a:t> performance with </a:t>
            </a:r>
            <a:r>
              <a:rPr lang="it-IT" dirty="0" err="1"/>
              <a:t>very</a:t>
            </a:r>
            <a:r>
              <a:rPr lang="it-IT" dirty="0"/>
              <a:t> low </a:t>
            </a:r>
            <a:r>
              <a:rPr lang="it-IT" dirty="0" err="1"/>
              <a:t>complexity</a:t>
            </a:r>
            <a:r>
              <a:rPr lang="it-IT" dirty="0"/>
              <a:t> and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simplicity</a:t>
            </a:r>
            <a:r>
              <a:rPr lang="it-IT" dirty="0"/>
              <a:t> </a:t>
            </a:r>
            <a:r>
              <a:rPr lang="it-IT" dirty="0" err="1"/>
              <a:t>offers</a:t>
            </a:r>
            <a:r>
              <a:rPr lang="it-IT" dirty="0"/>
              <a:t> </a:t>
            </a:r>
            <a:r>
              <a:rPr lang="it-IT" dirty="0" err="1"/>
              <a:t>potential</a:t>
            </a:r>
            <a:r>
              <a:rPr lang="it-IT" dirty="0"/>
              <a:t> for future </a:t>
            </a:r>
            <a:r>
              <a:rPr lang="it-IT" dirty="0" err="1"/>
              <a:t>enhancements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Possible</a:t>
            </a:r>
            <a:r>
              <a:rPr lang="it-IT" dirty="0"/>
              <a:t> future </a:t>
            </a:r>
            <a:r>
              <a:rPr lang="it-IT" dirty="0" err="1"/>
              <a:t>developments</a:t>
            </a:r>
            <a:endParaRPr lang="it-IT" dirty="0"/>
          </a:p>
          <a:p>
            <a:pPr lvl="1"/>
            <a:r>
              <a:rPr lang="it-IT" dirty="0"/>
              <a:t>Models </a:t>
            </a:r>
            <a:r>
              <a:rPr lang="it-IT" dirty="0" err="1"/>
              <a:t>application</a:t>
            </a:r>
            <a:r>
              <a:rPr lang="it-IT" dirty="0"/>
              <a:t> in a </a:t>
            </a:r>
            <a:r>
              <a:rPr lang="it-IT" dirty="0" err="1"/>
              <a:t>domestic</a:t>
            </a:r>
            <a:r>
              <a:rPr lang="it-IT" dirty="0"/>
              <a:t> follow-up scenario</a:t>
            </a:r>
          </a:p>
          <a:p>
            <a:pPr lvl="1"/>
            <a:r>
              <a:rPr lang="it-IT" dirty="0" err="1"/>
              <a:t>Develop</a:t>
            </a:r>
            <a:r>
              <a:rPr lang="it-IT" dirty="0"/>
              <a:t> an SNN </a:t>
            </a:r>
            <a:r>
              <a:rPr lang="it-IT" dirty="0" err="1"/>
              <a:t>based</a:t>
            </a:r>
            <a:r>
              <a:rPr lang="it-IT" dirty="0"/>
              <a:t> on foot pressure data</a:t>
            </a:r>
          </a:p>
        </p:txBody>
      </p:sp>
    </p:spTree>
    <p:extLst>
      <p:ext uri="{BB962C8B-B14F-4D97-AF65-F5344CB8AC3E}">
        <p14:creationId xmlns:p14="http://schemas.microsoft.com/office/powerpoint/2010/main" val="2586482638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926</TotalTime>
  <Words>1838</Words>
  <Application>Microsoft Office PowerPoint</Application>
  <PresentationFormat>Widescreen</PresentationFormat>
  <Paragraphs>177</Paragraphs>
  <Slides>17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Aptos</vt:lpstr>
      <vt:lpstr>Arial</vt:lpstr>
      <vt:lpstr>Cambria Math</vt:lpstr>
      <vt:lpstr>Trebuchet MS</vt:lpstr>
      <vt:lpstr>Wingdings 3</vt:lpstr>
      <vt:lpstr>Sfaccettatura</vt:lpstr>
      <vt:lpstr>EFFICIENT GAIT CLASSIFICATION USING SKELETON AND PRESSURE DATA: DEEP AND SPIKING NEURAL NETWORK APPROACHES</vt:lpstr>
      <vt:lpstr>RESEARCH OBJECTIVE</vt:lpstr>
      <vt:lpstr>PROCESSING PIPELINE</vt:lpstr>
      <vt:lpstr>DATA COLLECTION</vt:lpstr>
      <vt:lpstr>DATA NORMALIZATION AND AUGMENTATION</vt:lpstr>
      <vt:lpstr>MODELS</vt:lpstr>
      <vt:lpstr>Skeleton-based single-modal GRU (SkGRU) encoder</vt:lpstr>
      <vt:lpstr>Pressure-based single-modal CNN (PrCNN) encoder</vt:lpstr>
      <vt:lpstr>Hybrid model (HyM)</vt:lpstr>
      <vt:lpstr>Classifier</vt:lpstr>
      <vt:lpstr>Skeleton-based single-modal Spiking Neural Network (SkSNN)</vt:lpstr>
      <vt:lpstr>RESULTS</vt:lpstr>
      <vt:lpstr>Models performance</vt:lpstr>
      <vt:lpstr>t-SNE (t-distributed Stochastic Neighbor Embedding)</vt:lpstr>
      <vt:lpstr>GAIT-SPECIFIC PERFORMANCE</vt:lpstr>
      <vt:lpstr>EFFICIENCY-AWARE MODEL COMPARISON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Plantamura</dc:creator>
  <cp:lastModifiedBy>Domenico Plantamura</cp:lastModifiedBy>
  <cp:revision>11</cp:revision>
  <dcterms:created xsi:type="dcterms:W3CDTF">2025-06-28T08:41:09Z</dcterms:created>
  <dcterms:modified xsi:type="dcterms:W3CDTF">2026-05-07T17:11:43Z</dcterms:modified>
</cp:coreProperties>
</file>